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-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07" y="548639"/>
            <a:ext cx="1655545" cy="1636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3294" y="782654"/>
            <a:ext cx="52786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rPr sz="2400" dirty="0">
                <a:solidFill>
                  <a:srgbClr val="FF0000"/>
                </a:solidFill>
              </a:rPr>
              <a:t>CLUB DE CYBERSÉCURITÉ • ENSA OUJDA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43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École Nationale des Sciences Appliquées • Université Mohammed Premier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1" y="210312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LE CHÂTEAU NUMÉRIQUE</a:t>
            </a:r>
          </a:p>
          <a:p>
            <a:pPr>
              <a:spcBef>
                <a:spcPts val="1000"/>
              </a:spcBef>
              <a:defRPr sz="1800">
                <a:solidFill>
                  <a:srgbClr val="06B6D4"/>
                </a:solidFill>
              </a:defRPr>
            </a:pPr>
            <a:r>
              <a:rPr dirty="0" err="1"/>
              <a:t>Éduquer</a:t>
            </a:r>
            <a:r>
              <a:rPr dirty="0"/>
              <a:t> les </a:t>
            </a:r>
            <a:r>
              <a:rPr dirty="0" err="1"/>
              <a:t>Enfants</a:t>
            </a:r>
            <a:r>
              <a:rPr dirty="0"/>
              <a:t> aux </a:t>
            </a:r>
            <a:r>
              <a:rPr dirty="0" err="1"/>
              <a:t>Fondements</a:t>
            </a:r>
            <a:r>
              <a:rPr dirty="0"/>
              <a:t> de la </a:t>
            </a:r>
            <a:r>
              <a:rPr dirty="0" err="1"/>
              <a:t>Cybersécurité</a:t>
            </a:r>
            <a:r>
              <a:rPr dirty="0"/>
              <a:t> par le </a:t>
            </a:r>
            <a:r>
              <a:rPr dirty="0" err="1"/>
              <a:t>Jeu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6217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sz="2400" dirty="0"/>
              <a:t>Un </a:t>
            </a:r>
            <a:r>
              <a:rPr sz="2400" dirty="0" err="1"/>
              <a:t>jeu</a:t>
            </a:r>
            <a:r>
              <a:rPr sz="2400" dirty="0"/>
              <a:t> </a:t>
            </a:r>
            <a:r>
              <a:rPr sz="2400" dirty="0" err="1"/>
              <a:t>éducatif</a:t>
            </a:r>
            <a:r>
              <a:rPr sz="2400" dirty="0"/>
              <a:t> </a:t>
            </a:r>
            <a:r>
              <a:rPr sz="2400" dirty="0" err="1"/>
              <a:t>interactif</a:t>
            </a:r>
            <a:r>
              <a:rPr sz="2400" dirty="0"/>
              <a:t>, </a:t>
            </a:r>
            <a:r>
              <a:rPr sz="2400" dirty="0" err="1"/>
              <a:t>bilingue</a:t>
            </a:r>
            <a:r>
              <a:rPr sz="2400" dirty="0"/>
              <a:t> (</a:t>
            </a:r>
            <a:r>
              <a:rPr sz="2400" dirty="0" err="1"/>
              <a:t>Français</a:t>
            </a:r>
            <a:r>
              <a:rPr sz="2400" dirty="0"/>
              <a:t> / </a:t>
            </a:r>
            <a:r>
              <a:rPr sz="2400" dirty="0" err="1"/>
              <a:t>Arabe</a:t>
            </a:r>
            <a:r>
              <a:rPr sz="2400" dirty="0"/>
              <a:t>) et responsive, </a:t>
            </a:r>
            <a:r>
              <a:rPr sz="2400" dirty="0" err="1"/>
              <a:t>conçu</a:t>
            </a:r>
            <a:r>
              <a:rPr sz="2400" dirty="0"/>
              <a:t> par les </a:t>
            </a:r>
            <a:r>
              <a:rPr lang="fr-FR" sz="2400" dirty="0"/>
              <a:t>étudiants</a:t>
            </a:r>
            <a:r>
              <a:rPr sz="2400" dirty="0" smtClean="0"/>
              <a:t>-</a:t>
            </a:r>
            <a:r>
              <a:rPr sz="2400" dirty="0" err="1" smtClean="0"/>
              <a:t>ingénieurs</a:t>
            </a:r>
            <a:r>
              <a:rPr sz="2400" dirty="0" smtClean="0"/>
              <a:t> </a:t>
            </a:r>
            <a:r>
              <a:rPr sz="2400" dirty="0"/>
              <a:t>de </a:t>
            </a:r>
            <a:r>
              <a:rPr sz="2400" dirty="0" err="1"/>
              <a:t>l'ENSA</a:t>
            </a:r>
            <a:r>
              <a:rPr sz="2400" dirty="0"/>
              <a:t> Oujda pour </a:t>
            </a:r>
            <a:r>
              <a:rPr sz="2400" dirty="0" err="1"/>
              <a:t>initier</a:t>
            </a:r>
            <a:r>
              <a:rPr sz="2400" dirty="0"/>
              <a:t> les plus </a:t>
            </a:r>
            <a:r>
              <a:rPr sz="2400" dirty="0" err="1"/>
              <a:t>jeunes</a:t>
            </a:r>
            <a:r>
              <a:rPr sz="2400" dirty="0"/>
              <a:t> à </a:t>
            </a:r>
            <a:r>
              <a:rPr sz="2400" dirty="0" err="1"/>
              <a:t>l'hygiène</a:t>
            </a:r>
            <a:r>
              <a:rPr sz="2400" dirty="0"/>
              <a:t> </a:t>
            </a:r>
            <a:r>
              <a:rPr sz="2400" dirty="0" err="1"/>
              <a:t>numérique</a:t>
            </a:r>
            <a:r>
              <a:rPr sz="2400" dirty="0"/>
              <a:t>, à la protection de la vie </a:t>
            </a:r>
            <a:r>
              <a:rPr sz="2400" dirty="0" err="1"/>
              <a:t>privée</a:t>
            </a:r>
            <a:r>
              <a:rPr sz="2400" dirty="0"/>
              <a:t> et à la </a:t>
            </a:r>
            <a:r>
              <a:rPr sz="2400" dirty="0" err="1"/>
              <a:t>détection</a:t>
            </a:r>
            <a:r>
              <a:rPr sz="2400" dirty="0"/>
              <a:t> des </a:t>
            </a:r>
            <a:r>
              <a:rPr sz="2400" dirty="0" err="1"/>
              <a:t>pièges</a:t>
            </a:r>
            <a:r>
              <a:rPr sz="2400" dirty="0"/>
              <a:t> du web.</a:t>
            </a:r>
          </a:p>
        </p:txBody>
      </p:sp>
      <p:pic>
        <p:nvPicPr>
          <p:cNvPr id="9" name="Picture 8" descr="img1_chate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463" y="0"/>
            <a:ext cx="4395232" cy="3783330"/>
          </a:xfrm>
          <a:prstGeom prst="rect">
            <a:avLst/>
          </a:prstGeom>
        </p:spPr>
      </p:pic>
      <p:pic>
        <p:nvPicPr>
          <p:cNvPr id="10" name="Picture 9" descr="img2_he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974" y="3783330"/>
            <a:ext cx="2880025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IDENTITÉ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rgbClr val="FF0000"/>
                </a:solidFill>
              </a:rPr>
              <a:t>Le Club RED PHOENIX — ENSA Oujda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AE6FD"/>
                </a:solidFill>
              </a:defRPr>
            </a:pPr>
            <a:r>
              <a:rPr sz="1900" dirty="0" err="1"/>
              <a:t>Fondé</a:t>
            </a:r>
            <a:r>
              <a:rPr sz="1900" dirty="0"/>
              <a:t> au sein de </a:t>
            </a:r>
            <a:r>
              <a:rPr sz="1900" dirty="0" err="1"/>
              <a:t>l'École</a:t>
            </a:r>
            <a:r>
              <a:rPr sz="1900" dirty="0"/>
              <a:t> </a:t>
            </a:r>
            <a:r>
              <a:rPr sz="1900" dirty="0" err="1"/>
              <a:t>Nationale</a:t>
            </a:r>
            <a:r>
              <a:rPr sz="1900" dirty="0"/>
              <a:t> des Sciences </a:t>
            </a:r>
            <a:r>
              <a:rPr sz="1900" dirty="0" err="1"/>
              <a:t>Appliquées</a:t>
            </a:r>
            <a:r>
              <a:rPr sz="1900" dirty="0"/>
              <a:t> </a:t>
            </a:r>
            <a:r>
              <a:rPr sz="1900" dirty="0" err="1"/>
              <a:t>d'Oujda</a:t>
            </a:r>
            <a:r>
              <a:rPr sz="1900" dirty="0"/>
              <a:t> (ENSAO), RED PHOENIX </a:t>
            </a:r>
            <a:r>
              <a:rPr sz="1900" dirty="0" err="1"/>
              <a:t>est</a:t>
            </a:r>
            <a:r>
              <a:rPr sz="1900" dirty="0"/>
              <a:t> le club de </a:t>
            </a:r>
            <a:r>
              <a:rPr sz="1900" dirty="0" err="1"/>
              <a:t>référence</a:t>
            </a:r>
            <a:r>
              <a:rPr sz="1900" dirty="0"/>
              <a:t> des </a:t>
            </a:r>
            <a:r>
              <a:rPr sz="1900" dirty="0" err="1"/>
              <a:t>étudiants</a:t>
            </a:r>
            <a:r>
              <a:rPr sz="1900" dirty="0"/>
              <a:t> </a:t>
            </a:r>
            <a:r>
              <a:rPr sz="1900" dirty="0" err="1"/>
              <a:t>en</a:t>
            </a:r>
            <a:r>
              <a:rPr sz="1900"/>
              <a:t> </a:t>
            </a:r>
            <a:r>
              <a:rPr sz="1900" smtClean="0"/>
              <a:t>cybersécurité</a:t>
            </a:r>
            <a:r>
              <a:rPr sz="1900" dirty="0"/>
              <a:t>. Sa mission </a:t>
            </a:r>
            <a:r>
              <a:rPr sz="1900" dirty="0" err="1"/>
              <a:t>est</a:t>
            </a:r>
            <a:r>
              <a:rPr sz="1900" dirty="0"/>
              <a:t> </a:t>
            </a:r>
            <a:r>
              <a:rPr sz="1900" dirty="0" err="1"/>
              <a:t>d'allier</a:t>
            </a:r>
            <a:r>
              <a:rPr sz="1900" dirty="0"/>
              <a:t> rigueur </a:t>
            </a:r>
            <a:r>
              <a:rPr sz="1900" dirty="0" err="1"/>
              <a:t>académique</a:t>
            </a:r>
            <a:r>
              <a:rPr sz="1900" dirty="0"/>
              <a:t>, esprit </a:t>
            </a:r>
            <a:r>
              <a:rPr sz="1900" dirty="0" err="1"/>
              <a:t>d'innovation</a:t>
            </a:r>
            <a:r>
              <a:rPr sz="1900" dirty="0"/>
              <a:t> et impact </a:t>
            </a:r>
            <a:r>
              <a:rPr sz="1900" dirty="0" err="1"/>
              <a:t>sociétal</a:t>
            </a:r>
            <a:r>
              <a:rPr sz="1900" dirty="0"/>
              <a:t> </a:t>
            </a:r>
            <a:r>
              <a:rPr sz="1900" dirty="0" err="1"/>
              <a:t>positif</a:t>
            </a:r>
            <a:r>
              <a:rPr sz="19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3383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37559"/>
            <a:ext cx="30175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rPr sz="1400" dirty="0"/>
              <a:t>CITOYENNETÉ &amp; ENFANC</a:t>
            </a:r>
            <a:r>
              <a:rPr dirty="0"/>
              <a:t>E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rPr dirty="0"/>
              <a:t>🎯 1. </a:t>
            </a:r>
            <a:r>
              <a:rPr dirty="0" err="1"/>
              <a:t>Sensibilisation</a:t>
            </a:r>
            <a:r>
              <a:rPr dirty="0"/>
              <a:t> &amp; </a:t>
            </a:r>
            <a:r>
              <a:rPr dirty="0" err="1"/>
              <a:t>Vulgarisation</a:t>
            </a:r>
            <a:endParaRPr dirty="0"/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rPr sz="1300" dirty="0" err="1"/>
              <a:t>Transmettre</a:t>
            </a:r>
            <a:r>
              <a:rPr sz="1300" dirty="0"/>
              <a:t> la culture cyber aux </a:t>
            </a:r>
            <a:r>
              <a:rPr sz="1300" dirty="0" err="1"/>
              <a:t>écoles</a:t>
            </a:r>
            <a:r>
              <a:rPr sz="1300" dirty="0"/>
              <a:t>, </a:t>
            </a:r>
            <a:r>
              <a:rPr sz="1300" dirty="0" err="1"/>
              <a:t>collèges</a:t>
            </a:r>
            <a:r>
              <a:rPr sz="1300" dirty="0"/>
              <a:t> et </a:t>
            </a:r>
            <a:r>
              <a:rPr sz="1300" dirty="0" err="1"/>
              <a:t>familles</a:t>
            </a:r>
            <a:r>
              <a:rPr sz="1300" dirty="0"/>
              <a:t>. </a:t>
            </a:r>
            <a:r>
              <a:rPr sz="1300" dirty="0" err="1"/>
              <a:t>Démystifier</a:t>
            </a:r>
            <a:r>
              <a:rPr sz="1300" dirty="0"/>
              <a:t> les menaces du </a:t>
            </a:r>
            <a:r>
              <a:rPr sz="1300" dirty="0" err="1"/>
              <a:t>quotidien</a:t>
            </a:r>
            <a:r>
              <a:rPr sz="1300" dirty="0"/>
              <a:t> et </a:t>
            </a:r>
            <a:r>
              <a:rPr sz="1300" dirty="0" err="1"/>
              <a:t>inculquer</a:t>
            </a:r>
            <a:r>
              <a:rPr sz="1300" dirty="0"/>
              <a:t> les </a:t>
            </a:r>
            <a:r>
              <a:rPr sz="1300" dirty="0" err="1"/>
              <a:t>bons</a:t>
            </a:r>
            <a:r>
              <a:rPr sz="1300" dirty="0"/>
              <a:t> </a:t>
            </a:r>
            <a:r>
              <a:rPr sz="1300" dirty="0" err="1"/>
              <a:t>réflexes</a:t>
            </a:r>
            <a:r>
              <a:rPr sz="1300" dirty="0"/>
              <a:t> </a:t>
            </a:r>
            <a:r>
              <a:rPr sz="1300" dirty="0" err="1"/>
              <a:t>dès</a:t>
            </a:r>
            <a:r>
              <a:rPr sz="1300" dirty="0"/>
              <a:t> le plus </a:t>
            </a:r>
            <a:r>
              <a:rPr sz="1300" dirty="0" err="1"/>
              <a:t>jeune</a:t>
            </a:r>
            <a:r>
              <a:rPr sz="1300" dirty="0"/>
              <a:t> </a:t>
            </a:r>
            <a:r>
              <a:rPr sz="1300" dirty="0" err="1"/>
              <a:t>âge</a:t>
            </a:r>
            <a:r>
              <a:rPr sz="13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34640"/>
            <a:ext cx="3383280" cy="3383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87087" y="3365726"/>
            <a:ext cx="3017520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rPr sz="1400" dirty="0"/>
              <a:t>EXCELLENCE &amp; CTF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rPr dirty="0"/>
              <a:t>🎓 2. </a:t>
            </a:r>
            <a:r>
              <a:rPr dirty="0" err="1"/>
              <a:t>Apprentissage</a:t>
            </a:r>
            <a:r>
              <a:rPr dirty="0"/>
              <a:t> &amp; </a:t>
            </a:r>
            <a:r>
              <a:rPr dirty="0" err="1"/>
              <a:t>Compétitions</a:t>
            </a:r>
            <a:endParaRPr dirty="0"/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rPr sz="1300" dirty="0" err="1"/>
              <a:t>Organisation</a:t>
            </a:r>
            <a:r>
              <a:rPr sz="1300" dirty="0"/>
              <a:t> </a:t>
            </a:r>
            <a:r>
              <a:rPr sz="1300" dirty="0" err="1"/>
              <a:t>d'ateliers</a:t>
            </a:r>
            <a:r>
              <a:rPr sz="1300" dirty="0"/>
              <a:t> techniques de haut </a:t>
            </a:r>
            <a:r>
              <a:rPr sz="1300" dirty="0" err="1"/>
              <a:t>niveau</a:t>
            </a:r>
            <a:r>
              <a:rPr sz="1300" dirty="0"/>
              <a:t> : hacking </a:t>
            </a:r>
            <a:r>
              <a:rPr sz="1300" dirty="0" err="1"/>
              <a:t>éthique</a:t>
            </a:r>
            <a:r>
              <a:rPr sz="1300" dirty="0"/>
              <a:t>, </a:t>
            </a:r>
            <a:r>
              <a:rPr sz="1300" dirty="0" err="1"/>
              <a:t>cryptographie</a:t>
            </a:r>
            <a:r>
              <a:rPr sz="1300" dirty="0"/>
              <a:t>, forensic, </a:t>
            </a:r>
            <a:r>
              <a:rPr sz="1300" dirty="0" err="1"/>
              <a:t>sécurité</a:t>
            </a:r>
            <a:r>
              <a:rPr sz="1300" dirty="0"/>
              <a:t> applicative et participation aux </a:t>
            </a:r>
            <a:r>
              <a:rPr sz="1300" dirty="0" err="1"/>
              <a:t>compétitions</a:t>
            </a:r>
            <a:r>
              <a:rPr sz="1300" dirty="0"/>
              <a:t> Capture The Flag.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834640"/>
            <a:ext cx="3383280" cy="3383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3337560"/>
            <a:ext cx="30175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sz="1400" dirty="0"/>
              <a:t>INNOVATION &amp; LOGICIELS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rPr dirty="0"/>
              <a:t>💻 3. </a:t>
            </a:r>
            <a:r>
              <a:rPr dirty="0" err="1"/>
              <a:t>Projets</a:t>
            </a:r>
            <a:r>
              <a:rPr dirty="0"/>
              <a:t> Cyber &amp; R&amp;D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rPr sz="1300" dirty="0"/>
              <a:t>Conception </a:t>
            </a:r>
            <a:r>
              <a:rPr sz="1300" dirty="0" err="1"/>
              <a:t>d'outils</a:t>
            </a:r>
            <a:r>
              <a:rPr sz="1300" dirty="0"/>
              <a:t> de </a:t>
            </a:r>
            <a:r>
              <a:rPr sz="1300" dirty="0" err="1"/>
              <a:t>sécurité</a:t>
            </a:r>
            <a:r>
              <a:rPr sz="1300" dirty="0"/>
              <a:t>, </a:t>
            </a:r>
            <a:r>
              <a:rPr sz="1300" dirty="0" err="1"/>
              <a:t>veille</a:t>
            </a:r>
            <a:r>
              <a:rPr sz="1300" dirty="0"/>
              <a:t> </a:t>
            </a:r>
            <a:r>
              <a:rPr sz="1300" dirty="0" err="1"/>
              <a:t>technologique</a:t>
            </a:r>
            <a:r>
              <a:rPr sz="1300" dirty="0"/>
              <a:t> et </a:t>
            </a:r>
            <a:r>
              <a:rPr sz="1300" dirty="0" err="1"/>
              <a:t>développement</a:t>
            </a:r>
            <a:r>
              <a:rPr sz="1300" dirty="0"/>
              <a:t> de </a:t>
            </a:r>
            <a:r>
              <a:rPr sz="1300" dirty="0" err="1"/>
              <a:t>plateformes</a:t>
            </a:r>
            <a:r>
              <a:rPr sz="1300" dirty="0"/>
              <a:t> web interactives </a:t>
            </a:r>
            <a:r>
              <a:rPr sz="1300" dirty="0" err="1"/>
              <a:t>comme</a:t>
            </a:r>
            <a:r>
              <a:rPr sz="1300" dirty="0"/>
              <a:t> </a:t>
            </a:r>
            <a:r>
              <a:rPr sz="1300" dirty="0" err="1"/>
              <a:t>ce</a:t>
            </a:r>
            <a:r>
              <a:rPr sz="1300" dirty="0"/>
              <a:t> </a:t>
            </a:r>
            <a:r>
              <a:rPr sz="1300" dirty="0" err="1"/>
              <a:t>jeu</a:t>
            </a:r>
            <a:r>
              <a:rPr sz="1300" dirty="0"/>
              <a:t> 'Le Château </a:t>
            </a:r>
            <a:r>
              <a:rPr sz="1300" dirty="0" err="1"/>
              <a:t>Numérique</a:t>
            </a:r>
            <a:r>
              <a:rPr sz="1300" dirty="0"/>
              <a:t>'.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PÉDAGOGIE &amp; PSYCHOLOGIE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Pourquoi Enseigner la Cybersécurité par le Jeu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3966" y="2030931"/>
            <a:ext cx="5394960" cy="360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rPr sz="1700" dirty="0"/>
              <a:t>Le </a:t>
            </a:r>
            <a:r>
              <a:rPr sz="1700" dirty="0" err="1"/>
              <a:t>Défi</a:t>
            </a:r>
            <a:r>
              <a:rPr sz="1700" dirty="0"/>
              <a:t> </a:t>
            </a:r>
            <a:r>
              <a:rPr sz="1700" dirty="0" err="1"/>
              <a:t>Actuel</a:t>
            </a:r>
            <a:r>
              <a:rPr sz="1700" dirty="0"/>
              <a:t> des </a:t>
            </a:r>
            <a:r>
              <a:rPr sz="1700" dirty="0" err="1"/>
              <a:t>Enfants</a:t>
            </a:r>
            <a:r>
              <a:rPr sz="1700" dirty="0"/>
              <a:t> Face aux </a:t>
            </a:r>
            <a:r>
              <a:rPr sz="1700" dirty="0" err="1"/>
              <a:t>Écrans</a:t>
            </a:r>
            <a:r>
              <a:rPr sz="1700" dirty="0"/>
              <a:t> :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500" dirty="0"/>
              <a:t>• </a:t>
            </a:r>
            <a:r>
              <a:rPr sz="1500" dirty="0" err="1"/>
              <a:t>Une</a:t>
            </a:r>
            <a:r>
              <a:rPr sz="1500" dirty="0"/>
              <a:t> exposition </a:t>
            </a:r>
            <a:r>
              <a:rPr sz="1500" dirty="0" err="1"/>
              <a:t>précoce</a:t>
            </a:r>
            <a:r>
              <a:rPr sz="1500" dirty="0"/>
              <a:t> : </a:t>
            </a:r>
            <a:r>
              <a:rPr sz="1500" b="0" dirty="0" err="1">
                <a:solidFill>
                  <a:srgbClr val="94A3B8"/>
                </a:solidFill>
              </a:rPr>
              <a:t>Dès</a:t>
            </a:r>
            <a:r>
              <a:rPr sz="1500" b="0" dirty="0">
                <a:solidFill>
                  <a:srgbClr val="94A3B8"/>
                </a:solidFill>
              </a:rPr>
              <a:t> 6-8 </a:t>
            </a:r>
            <a:r>
              <a:rPr sz="1500" b="0" dirty="0" err="1">
                <a:solidFill>
                  <a:srgbClr val="94A3B8"/>
                </a:solidFill>
              </a:rPr>
              <a:t>ans</a:t>
            </a:r>
            <a:r>
              <a:rPr sz="1500" b="0" dirty="0">
                <a:solidFill>
                  <a:srgbClr val="94A3B8"/>
                </a:solidFill>
              </a:rPr>
              <a:t>, les </a:t>
            </a:r>
            <a:r>
              <a:rPr sz="1500" b="0" dirty="0" err="1">
                <a:solidFill>
                  <a:srgbClr val="94A3B8"/>
                </a:solidFill>
              </a:rPr>
              <a:t>enfants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utilisent</a:t>
            </a:r>
            <a:r>
              <a:rPr sz="1500" b="0" dirty="0">
                <a:solidFill>
                  <a:srgbClr val="94A3B8"/>
                </a:solidFill>
              </a:rPr>
              <a:t> des </a:t>
            </a:r>
            <a:r>
              <a:rPr sz="1500" b="0" dirty="0" err="1">
                <a:solidFill>
                  <a:srgbClr val="94A3B8"/>
                </a:solidFill>
              </a:rPr>
              <a:t>tablettes</a:t>
            </a:r>
            <a:r>
              <a:rPr sz="1500" b="0" dirty="0">
                <a:solidFill>
                  <a:srgbClr val="94A3B8"/>
                </a:solidFill>
              </a:rPr>
              <a:t>, YouTube, </a:t>
            </a:r>
            <a:r>
              <a:rPr sz="1500" b="0" dirty="0" err="1">
                <a:solidFill>
                  <a:srgbClr val="94A3B8"/>
                </a:solidFill>
              </a:rPr>
              <a:t>Roblox</a:t>
            </a:r>
            <a:r>
              <a:rPr sz="1500" b="0" dirty="0">
                <a:solidFill>
                  <a:srgbClr val="94A3B8"/>
                </a:solidFill>
              </a:rPr>
              <a:t> et des </a:t>
            </a:r>
            <a:r>
              <a:rPr sz="1500" b="0" dirty="0" err="1">
                <a:solidFill>
                  <a:srgbClr val="94A3B8"/>
                </a:solidFill>
              </a:rPr>
              <a:t>réseaux</a:t>
            </a:r>
            <a:r>
              <a:rPr sz="1500" b="0" dirty="0">
                <a:solidFill>
                  <a:srgbClr val="94A3B8"/>
                </a:solidFill>
              </a:rPr>
              <a:t> sans </a:t>
            </a:r>
            <a:r>
              <a:rPr sz="1500" b="0" dirty="0" err="1">
                <a:solidFill>
                  <a:srgbClr val="94A3B8"/>
                </a:solidFill>
              </a:rPr>
              <a:t>connaître</a:t>
            </a:r>
            <a:r>
              <a:rPr sz="1500" b="0" dirty="0">
                <a:solidFill>
                  <a:srgbClr val="94A3B8"/>
                </a:solidFill>
              </a:rPr>
              <a:t> les </a:t>
            </a:r>
            <a:r>
              <a:rPr sz="1500" b="0" dirty="0" err="1">
                <a:solidFill>
                  <a:srgbClr val="94A3B8"/>
                </a:solidFill>
              </a:rPr>
              <a:t>risques</a:t>
            </a:r>
            <a:r>
              <a:rPr sz="1500"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500" dirty="0"/>
              <a:t>• Les </a:t>
            </a:r>
            <a:r>
              <a:rPr sz="1500" dirty="0" err="1"/>
              <a:t>discours</a:t>
            </a:r>
            <a:r>
              <a:rPr sz="1500" dirty="0"/>
              <a:t> </a:t>
            </a:r>
            <a:r>
              <a:rPr sz="1500" dirty="0" err="1"/>
              <a:t>moralisateurs</a:t>
            </a:r>
            <a:r>
              <a:rPr sz="1500" dirty="0"/>
              <a:t> </a:t>
            </a:r>
            <a:r>
              <a:rPr sz="1500" dirty="0" err="1"/>
              <a:t>échouent</a:t>
            </a:r>
            <a:r>
              <a:rPr sz="1500" dirty="0"/>
              <a:t> : </a:t>
            </a:r>
            <a:r>
              <a:rPr sz="1500" b="0" dirty="0">
                <a:solidFill>
                  <a:srgbClr val="94A3B8"/>
                </a:solidFill>
              </a:rPr>
              <a:t>Dire 'ne </a:t>
            </a:r>
            <a:r>
              <a:rPr sz="1500" b="0" dirty="0" err="1">
                <a:solidFill>
                  <a:srgbClr val="94A3B8"/>
                </a:solidFill>
              </a:rPr>
              <a:t>parle</a:t>
            </a:r>
            <a:r>
              <a:rPr sz="1500" b="0" dirty="0">
                <a:solidFill>
                  <a:srgbClr val="94A3B8"/>
                </a:solidFill>
              </a:rPr>
              <a:t> pas aux </a:t>
            </a:r>
            <a:r>
              <a:rPr sz="1500" b="0" dirty="0" err="1">
                <a:solidFill>
                  <a:srgbClr val="94A3B8"/>
                </a:solidFill>
              </a:rPr>
              <a:t>inconnus</a:t>
            </a:r>
            <a:r>
              <a:rPr sz="1500" b="0" dirty="0">
                <a:solidFill>
                  <a:srgbClr val="94A3B8"/>
                </a:solidFill>
              </a:rPr>
              <a:t>' </a:t>
            </a:r>
            <a:r>
              <a:rPr sz="1500" b="0" dirty="0" err="1">
                <a:solidFill>
                  <a:srgbClr val="94A3B8"/>
                </a:solidFill>
              </a:rPr>
              <a:t>est</a:t>
            </a:r>
            <a:r>
              <a:rPr sz="1500" b="0" dirty="0">
                <a:solidFill>
                  <a:srgbClr val="94A3B8"/>
                </a:solidFill>
              </a:rPr>
              <a:t> trop </a:t>
            </a:r>
            <a:r>
              <a:rPr sz="1500" b="0" dirty="0" err="1">
                <a:solidFill>
                  <a:srgbClr val="94A3B8"/>
                </a:solidFill>
              </a:rPr>
              <a:t>abstrait</a:t>
            </a:r>
            <a:r>
              <a:rPr sz="1500" b="0" dirty="0">
                <a:solidFill>
                  <a:srgbClr val="94A3B8"/>
                </a:solidFill>
              </a:rPr>
              <a:t>. </a:t>
            </a:r>
            <a:r>
              <a:rPr sz="1500" b="0" dirty="0" err="1">
                <a:solidFill>
                  <a:srgbClr val="94A3B8"/>
                </a:solidFill>
              </a:rPr>
              <a:t>L'enfant</a:t>
            </a:r>
            <a:r>
              <a:rPr sz="1500" b="0" dirty="0">
                <a:solidFill>
                  <a:srgbClr val="94A3B8"/>
                </a:solidFill>
              </a:rPr>
              <a:t> ne fait pas le lien avec un </a:t>
            </a:r>
            <a:r>
              <a:rPr sz="1500" b="0" dirty="0" err="1">
                <a:solidFill>
                  <a:srgbClr val="94A3B8"/>
                </a:solidFill>
              </a:rPr>
              <a:t>jeu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vidéo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ou</a:t>
            </a:r>
            <a:r>
              <a:rPr sz="1500" b="0" dirty="0">
                <a:solidFill>
                  <a:srgbClr val="94A3B8"/>
                </a:solidFill>
              </a:rPr>
              <a:t> un faux </a:t>
            </a:r>
            <a:r>
              <a:rPr sz="1500" b="0" dirty="0" err="1">
                <a:solidFill>
                  <a:srgbClr val="94A3B8"/>
                </a:solidFill>
              </a:rPr>
              <a:t>cadeau</a:t>
            </a:r>
            <a:r>
              <a:rPr sz="1500"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500" dirty="0"/>
              <a:t>• La force de la </a:t>
            </a:r>
            <a:r>
              <a:rPr sz="1500" dirty="0" err="1"/>
              <a:t>métaphore</a:t>
            </a:r>
            <a:r>
              <a:rPr sz="1500" dirty="0"/>
              <a:t> </a:t>
            </a:r>
            <a:r>
              <a:rPr sz="1500" dirty="0" err="1"/>
              <a:t>ludique</a:t>
            </a:r>
            <a:r>
              <a:rPr sz="1500" dirty="0"/>
              <a:t> : </a:t>
            </a:r>
            <a:r>
              <a:rPr sz="1500" b="0" dirty="0" err="1">
                <a:solidFill>
                  <a:srgbClr val="94A3B8"/>
                </a:solidFill>
              </a:rPr>
              <a:t>En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associant</a:t>
            </a:r>
            <a:r>
              <a:rPr sz="1500" b="0" dirty="0">
                <a:solidFill>
                  <a:srgbClr val="94A3B8"/>
                </a:solidFill>
              </a:rPr>
              <a:t> un mot de </a:t>
            </a:r>
            <a:r>
              <a:rPr sz="1500" b="0" dirty="0" err="1">
                <a:solidFill>
                  <a:srgbClr val="94A3B8"/>
                </a:solidFill>
              </a:rPr>
              <a:t>passe</a:t>
            </a:r>
            <a:r>
              <a:rPr sz="1500" b="0" dirty="0">
                <a:solidFill>
                  <a:srgbClr val="94A3B8"/>
                </a:solidFill>
              </a:rPr>
              <a:t> à </a:t>
            </a:r>
            <a:r>
              <a:rPr sz="1500" b="0" dirty="0" err="1">
                <a:solidFill>
                  <a:srgbClr val="94A3B8"/>
                </a:solidFill>
              </a:rPr>
              <a:t>une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clé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magique</a:t>
            </a:r>
            <a:r>
              <a:rPr sz="1500" b="0" dirty="0">
                <a:solidFill>
                  <a:srgbClr val="94A3B8"/>
                </a:solidFill>
              </a:rPr>
              <a:t> et un hacker à un </a:t>
            </a:r>
            <a:r>
              <a:rPr sz="1500" b="0" dirty="0" err="1">
                <a:solidFill>
                  <a:srgbClr val="94A3B8"/>
                </a:solidFill>
              </a:rPr>
              <a:t>loup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rusé</a:t>
            </a:r>
            <a:r>
              <a:rPr sz="1500" b="0" dirty="0">
                <a:solidFill>
                  <a:srgbClr val="94A3B8"/>
                </a:solidFill>
              </a:rPr>
              <a:t>, </a:t>
            </a:r>
            <a:r>
              <a:rPr sz="1500" b="0" dirty="0" err="1">
                <a:solidFill>
                  <a:srgbClr val="94A3B8"/>
                </a:solidFill>
              </a:rPr>
              <a:t>l'enfant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comprend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instinctivement</a:t>
            </a:r>
            <a:r>
              <a:rPr sz="1500" b="0" dirty="0">
                <a:solidFill>
                  <a:srgbClr val="94A3B8"/>
                </a:solidFill>
              </a:rPr>
              <a:t> et </a:t>
            </a:r>
            <a:r>
              <a:rPr sz="1500" b="0" dirty="0" err="1">
                <a:solidFill>
                  <a:srgbClr val="94A3B8"/>
                </a:solidFill>
              </a:rPr>
              <a:t>mémorise</a:t>
            </a:r>
            <a:r>
              <a:rPr sz="1500"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500" dirty="0"/>
              <a:t>• </a:t>
            </a:r>
            <a:r>
              <a:rPr sz="1500" dirty="0" err="1"/>
              <a:t>Remplacer</a:t>
            </a:r>
            <a:r>
              <a:rPr sz="1500" dirty="0"/>
              <a:t> la </a:t>
            </a:r>
            <a:r>
              <a:rPr sz="1500" dirty="0" err="1"/>
              <a:t>peur</a:t>
            </a:r>
            <a:r>
              <a:rPr sz="1500" dirty="0"/>
              <a:t> par le </a:t>
            </a:r>
            <a:r>
              <a:rPr sz="1500" dirty="0" err="1"/>
              <a:t>pouvoir</a:t>
            </a:r>
            <a:r>
              <a:rPr sz="1500" dirty="0"/>
              <a:t> </a:t>
            </a:r>
            <a:r>
              <a:rPr sz="1500" dirty="0" err="1"/>
              <a:t>d'agir</a:t>
            </a:r>
            <a:r>
              <a:rPr sz="1500" dirty="0"/>
              <a:t> : </a:t>
            </a:r>
            <a:r>
              <a:rPr sz="1500" b="0" dirty="0">
                <a:solidFill>
                  <a:srgbClr val="94A3B8"/>
                </a:solidFill>
              </a:rPr>
              <a:t>Le but </a:t>
            </a:r>
            <a:r>
              <a:rPr sz="1500" b="0" dirty="0" err="1">
                <a:solidFill>
                  <a:srgbClr val="94A3B8"/>
                </a:solidFill>
              </a:rPr>
              <a:t>n'est</a:t>
            </a:r>
            <a:r>
              <a:rPr sz="1500" b="0" dirty="0">
                <a:solidFill>
                  <a:srgbClr val="94A3B8"/>
                </a:solidFill>
              </a:rPr>
              <a:t> pas </a:t>
            </a:r>
            <a:r>
              <a:rPr sz="1500" b="0" dirty="0" err="1">
                <a:solidFill>
                  <a:srgbClr val="94A3B8"/>
                </a:solidFill>
              </a:rPr>
              <a:t>d'effrayer</a:t>
            </a:r>
            <a:r>
              <a:rPr sz="1500" b="0" dirty="0">
                <a:solidFill>
                  <a:srgbClr val="94A3B8"/>
                </a:solidFill>
              </a:rPr>
              <a:t> </a:t>
            </a:r>
            <a:r>
              <a:rPr sz="1500" b="0" dirty="0" err="1">
                <a:solidFill>
                  <a:srgbClr val="94A3B8"/>
                </a:solidFill>
              </a:rPr>
              <a:t>l'enfant</a:t>
            </a:r>
            <a:r>
              <a:rPr sz="1500" b="0" dirty="0">
                <a:solidFill>
                  <a:srgbClr val="94A3B8"/>
                </a:solidFill>
              </a:rPr>
              <a:t>, </a:t>
            </a:r>
            <a:r>
              <a:rPr sz="1500" b="0" dirty="0" err="1">
                <a:solidFill>
                  <a:srgbClr val="94A3B8"/>
                </a:solidFill>
              </a:rPr>
              <a:t>mais</a:t>
            </a:r>
            <a:r>
              <a:rPr sz="1500" b="0" dirty="0">
                <a:solidFill>
                  <a:srgbClr val="94A3B8"/>
                </a:solidFill>
              </a:rPr>
              <a:t> de </a:t>
            </a:r>
            <a:r>
              <a:rPr sz="1500" b="0" dirty="0" err="1">
                <a:solidFill>
                  <a:srgbClr val="94A3B8"/>
                </a:solidFill>
              </a:rPr>
              <a:t>lui</a:t>
            </a:r>
            <a:r>
              <a:rPr sz="1500" b="0" dirty="0">
                <a:solidFill>
                  <a:srgbClr val="94A3B8"/>
                </a:solidFill>
              </a:rPr>
              <a:t> donner la </a:t>
            </a:r>
            <a:r>
              <a:rPr sz="1500" b="0" dirty="0" err="1">
                <a:solidFill>
                  <a:srgbClr val="94A3B8"/>
                </a:solidFill>
              </a:rPr>
              <a:t>fierté</a:t>
            </a:r>
            <a:r>
              <a:rPr sz="1500" b="0" dirty="0">
                <a:solidFill>
                  <a:srgbClr val="94A3B8"/>
                </a:solidFill>
              </a:rPr>
              <a:t> d'être un 'Cyber-</a:t>
            </a:r>
            <a:r>
              <a:rPr sz="1500" b="0" dirty="0" err="1">
                <a:solidFill>
                  <a:srgbClr val="94A3B8"/>
                </a:solidFill>
              </a:rPr>
              <a:t>Héros</a:t>
            </a:r>
            <a:r>
              <a:rPr sz="1500" b="0" dirty="0">
                <a:solidFill>
                  <a:srgbClr val="94A3B8"/>
                </a:solidFill>
              </a:rPr>
              <a:t>' capable de </a:t>
            </a:r>
            <a:r>
              <a:rPr sz="1500" b="0" dirty="0" err="1">
                <a:solidFill>
                  <a:srgbClr val="94A3B8"/>
                </a:solidFill>
              </a:rPr>
              <a:t>défendre</a:t>
            </a:r>
            <a:r>
              <a:rPr sz="1500" b="0" dirty="0">
                <a:solidFill>
                  <a:srgbClr val="94A3B8"/>
                </a:solidFill>
              </a:rPr>
              <a:t> son </a:t>
            </a:r>
            <a:r>
              <a:rPr sz="1500" b="0" dirty="0" err="1">
                <a:solidFill>
                  <a:srgbClr val="94A3B8"/>
                </a:solidFill>
              </a:rPr>
              <a:t>propre</a:t>
            </a:r>
            <a:r>
              <a:rPr sz="1500" b="0" dirty="0">
                <a:solidFill>
                  <a:srgbClr val="94A3B8"/>
                </a:solidFill>
              </a:rPr>
              <a:t> château.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463040"/>
            <a:ext cx="438912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g2_h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37360"/>
            <a:ext cx="329184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ARCHITECTURE DU 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 Carte des 7 Missions du Royaume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240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g4_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554480"/>
            <a:ext cx="2021305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399" y="2651760"/>
            <a:ext cx="22402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rPr dirty="0"/>
              <a:t>MISSION 1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La </a:t>
            </a:r>
            <a:r>
              <a:rPr dirty="0" err="1"/>
              <a:t>Clé</a:t>
            </a:r>
            <a:r>
              <a:rPr dirty="0"/>
              <a:t> </a:t>
            </a:r>
            <a:r>
              <a:rPr dirty="0" err="1"/>
              <a:t>Magique</a:t>
            </a:r>
            <a:endParaRPr dirty="0"/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rPr sz="1200" dirty="0"/>
              <a:t>Mots de </a:t>
            </a:r>
            <a:r>
              <a:rPr sz="1200" dirty="0" err="1"/>
              <a:t>passe</a:t>
            </a:r>
            <a:r>
              <a:rPr sz="1200" dirty="0"/>
              <a:t> forts &amp; Runes </a:t>
            </a:r>
            <a:r>
              <a:rPr sz="1200" dirty="0" err="1"/>
              <a:t>d'énergie</a:t>
            </a:r>
            <a:endParaRPr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14600" cy="2240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g5_l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554480"/>
            <a:ext cx="187452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2560320"/>
            <a:ext cx="224028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rPr dirty="0"/>
              <a:t>MISSION 2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Le </a:t>
            </a:r>
            <a:r>
              <a:rPr dirty="0" err="1"/>
              <a:t>Piège</a:t>
            </a:r>
            <a:r>
              <a:rPr dirty="0"/>
              <a:t> du Loup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rPr sz="1300" dirty="0" err="1"/>
              <a:t>Détection</a:t>
            </a:r>
            <a:r>
              <a:rPr sz="1300" dirty="0"/>
              <a:t> du Phishing &amp; Faux </a:t>
            </a:r>
            <a:r>
              <a:rPr sz="1300" dirty="0" err="1"/>
              <a:t>cadeaux</a:t>
            </a:r>
            <a:endParaRPr sz="1300" dirty="0"/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14600" cy="2240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g6_parefeu 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1554480"/>
            <a:ext cx="1949117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2560320"/>
            <a:ext cx="224028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rPr dirty="0"/>
              <a:t>MISSION 3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Le Mur de </a:t>
            </a:r>
            <a:r>
              <a:rPr dirty="0" err="1"/>
              <a:t>Flammes</a:t>
            </a:r>
            <a:endParaRPr dirty="0"/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rPr sz="1200" dirty="0"/>
              <a:t>Le Pare-feu &amp; </a:t>
            </a:r>
            <a:r>
              <a:rPr sz="1200" dirty="0" err="1"/>
              <a:t>Filtrage</a:t>
            </a:r>
            <a:r>
              <a:rPr sz="1200" dirty="0"/>
              <a:t> des flux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463040"/>
            <a:ext cx="2514600" cy="2240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g7_tre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554480"/>
            <a:ext cx="1821580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61120" y="2560320"/>
            <a:ext cx="22402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rPr dirty="0"/>
              <a:t>MISSION 4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Le </a:t>
            </a:r>
            <a:r>
              <a:rPr dirty="0" err="1"/>
              <a:t>Coffre</a:t>
            </a:r>
            <a:r>
              <a:rPr dirty="0"/>
              <a:t> aux </a:t>
            </a:r>
            <a:r>
              <a:rPr dirty="0" err="1"/>
              <a:t>Trésors</a:t>
            </a:r>
            <a:endParaRPr dirty="0"/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rPr sz="1200" dirty="0" err="1" smtClean="0"/>
              <a:t>Données</a:t>
            </a:r>
            <a:r>
              <a:rPr sz="1200" dirty="0" smtClean="0"/>
              <a:t> </a:t>
            </a:r>
            <a:r>
              <a:rPr sz="1200" dirty="0" err="1" smtClean="0"/>
              <a:t>personnelles</a:t>
            </a:r>
            <a:r>
              <a:rPr sz="1200" dirty="0" smtClean="0"/>
              <a:t> &amp; </a:t>
            </a:r>
            <a:r>
              <a:rPr sz="1200" dirty="0" err="1" smtClean="0"/>
              <a:t>Confidentialité</a:t>
            </a:r>
            <a:endParaRPr sz="1200" dirty="0"/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2514600" cy="2240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g8_ma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84859"/>
            <a:ext cx="2004460" cy="9986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4983480"/>
            <a:ext cx="224028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rPr dirty="0"/>
              <a:t>MISSION 5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Le Robot </a:t>
            </a:r>
            <a:r>
              <a:rPr dirty="0" err="1"/>
              <a:t>Forgeron</a:t>
            </a:r>
            <a:endParaRPr dirty="0"/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rPr sz="1200" dirty="0"/>
              <a:t>Mises à jour de </a:t>
            </a:r>
            <a:r>
              <a:rPr sz="1200" dirty="0" err="1"/>
              <a:t>sécurité</a:t>
            </a:r>
            <a:r>
              <a:rPr sz="1200" dirty="0"/>
              <a:t> &amp; </a:t>
            </a:r>
            <a:r>
              <a:rPr sz="1200" dirty="0" err="1"/>
              <a:t>Patchs</a:t>
            </a:r>
            <a:endParaRPr sz="1200" dirty="0"/>
          </a:p>
        </p:txBody>
      </p:sp>
      <p:sp>
        <p:nvSpPr>
          <p:cNvPr id="20" name="Rounded Rectangle 19"/>
          <p:cNvSpPr/>
          <p:nvPr/>
        </p:nvSpPr>
        <p:spPr>
          <a:xfrm>
            <a:off x="3429000" y="3886200"/>
            <a:ext cx="2514600" cy="2240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g7_sauvegar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984859"/>
            <a:ext cx="1917834" cy="9986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89670" y="5082139"/>
            <a:ext cx="22402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rPr dirty="0"/>
              <a:t>MISSION 6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La </a:t>
            </a:r>
            <a:r>
              <a:rPr dirty="0" err="1"/>
              <a:t>Sauvegarde</a:t>
            </a:r>
            <a:r>
              <a:rPr dirty="0"/>
              <a:t> </a:t>
            </a:r>
            <a:r>
              <a:rPr dirty="0" err="1"/>
              <a:t>Céleste</a:t>
            </a:r>
            <a:endParaRPr dirty="0"/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rPr sz="1200" dirty="0"/>
              <a:t>Cloud, </a:t>
            </a:r>
            <a:r>
              <a:rPr sz="1200" dirty="0" err="1"/>
              <a:t>Sauvegardes</a:t>
            </a:r>
            <a:r>
              <a:rPr sz="1200" dirty="0"/>
              <a:t> &amp; </a:t>
            </a:r>
            <a:r>
              <a:rPr sz="1200" dirty="0" err="1"/>
              <a:t>Règle</a:t>
            </a:r>
            <a:r>
              <a:rPr sz="1200" dirty="0"/>
              <a:t> 3-2-1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886200"/>
            <a:ext cx="2514600" cy="2240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g8_tunn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984859"/>
            <a:ext cx="2009274" cy="9986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2437" y="5035216"/>
            <a:ext cx="22402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rPr dirty="0"/>
              <a:t>MISSION 7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Le Tunnel Mystique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rPr sz="1200" dirty="0" err="1"/>
              <a:t>Chiffrement</a:t>
            </a:r>
            <a:r>
              <a:rPr sz="1200" dirty="0"/>
              <a:t> HTTPS &amp; Wi-Fi Public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3840480"/>
            <a:ext cx="2514600" cy="22402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mg10_troph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39" y="3984859"/>
            <a:ext cx="1821581" cy="99862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61120" y="4983480"/>
            <a:ext cx="2240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rPr dirty="0"/>
              <a:t>SOMMET FINAL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rPr dirty="0" err="1"/>
              <a:t>Diplôme</a:t>
            </a:r>
            <a:r>
              <a:rPr dirty="0"/>
              <a:t> </a:t>
            </a:r>
            <a:r>
              <a:rPr dirty="0" err="1"/>
              <a:t>Officiel</a:t>
            </a:r>
            <a:endParaRPr dirty="0"/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200" dirty="0" smtClean="0"/>
              <a:t>Certification </a:t>
            </a:r>
            <a:r>
              <a:rPr sz="1200" dirty="0" err="1" smtClean="0"/>
              <a:t>officielle</a:t>
            </a:r>
            <a:r>
              <a:rPr sz="1200" dirty="0" smtClean="0"/>
              <a:t> RED PHOENIX ENSAO à </a:t>
            </a:r>
            <a:r>
              <a:rPr sz="1200" dirty="0" err="1" smtClean="0"/>
              <a:t>imprimer</a:t>
            </a:r>
            <a:r>
              <a:rPr sz="1200" dirty="0" smtClean="0"/>
              <a:t>.</a:t>
            </a: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FONDEMENTS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Missions 1 &amp; 2 : Mots de Passe &amp; Phishing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g4_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1463040" cy="1645920"/>
          </a:xfrm>
          <a:prstGeom prst="rect">
            <a:avLst/>
          </a:prstGeom>
        </p:spPr>
      </p:pic>
      <p:pic>
        <p:nvPicPr>
          <p:cNvPr id="7" name="Picture 6" descr="img3_vir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92024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3474720"/>
            <a:ext cx="466344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rPr dirty="0"/>
              <a:t>Mission 1 : La </a:t>
            </a:r>
            <a:r>
              <a:rPr dirty="0" err="1"/>
              <a:t>Clé</a:t>
            </a:r>
            <a:r>
              <a:rPr dirty="0"/>
              <a:t> </a:t>
            </a:r>
            <a:r>
              <a:rPr dirty="0" err="1"/>
              <a:t>Magique</a:t>
            </a:r>
            <a:endParaRPr dirty="0"/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Scénario</a:t>
            </a:r>
            <a:r>
              <a:rPr sz="1300" dirty="0"/>
              <a:t> : Le </a:t>
            </a:r>
            <a:r>
              <a:rPr sz="1300" dirty="0" err="1"/>
              <a:t>Glouton</a:t>
            </a:r>
            <a:r>
              <a:rPr sz="1300" dirty="0"/>
              <a:t>-Virus </a:t>
            </a:r>
            <a:r>
              <a:rPr sz="1300" dirty="0" err="1"/>
              <a:t>tente</a:t>
            </a:r>
            <a:r>
              <a:rPr sz="1300" dirty="0"/>
              <a:t> de </a:t>
            </a:r>
            <a:r>
              <a:rPr sz="1300" dirty="0" err="1"/>
              <a:t>dévorer</a:t>
            </a:r>
            <a:r>
              <a:rPr sz="1300" dirty="0"/>
              <a:t> les </a:t>
            </a:r>
            <a:r>
              <a:rPr sz="1300" dirty="0" err="1"/>
              <a:t>fichiers</a:t>
            </a:r>
            <a:r>
              <a:rPr sz="1300" dirty="0"/>
              <a:t> de </a:t>
            </a:r>
            <a:r>
              <a:rPr sz="1300" dirty="0" err="1"/>
              <a:t>l'ordinateur</a:t>
            </a:r>
            <a:r>
              <a:rPr sz="1300" dirty="0"/>
              <a:t>.</a:t>
            </a:r>
            <a:br>
              <a:rPr sz="1300" dirty="0"/>
            </a:br>
            <a:r>
              <a:rPr sz="1300" dirty="0"/>
              <a:t>• </a:t>
            </a:r>
            <a:r>
              <a:rPr sz="1300" dirty="0" err="1"/>
              <a:t>Mécanique</a:t>
            </a:r>
            <a:r>
              <a:rPr sz="1300" dirty="0"/>
              <a:t> de </a:t>
            </a:r>
            <a:r>
              <a:rPr sz="1300" dirty="0" err="1"/>
              <a:t>jeu</a:t>
            </a:r>
            <a:r>
              <a:rPr sz="1300" dirty="0"/>
              <a:t> : </a:t>
            </a:r>
            <a:r>
              <a:rPr sz="1300" dirty="0" err="1"/>
              <a:t>L'enfant</a:t>
            </a:r>
            <a:r>
              <a:rPr sz="1300" dirty="0"/>
              <a:t> clique sur 4 runes </a:t>
            </a:r>
            <a:r>
              <a:rPr sz="1300" dirty="0" err="1"/>
              <a:t>d'énergie</a:t>
            </a:r>
            <a:r>
              <a:rPr sz="1300" dirty="0"/>
              <a:t> (</a:t>
            </a:r>
            <a:r>
              <a:rPr sz="1300" dirty="0" err="1"/>
              <a:t>Longueur</a:t>
            </a:r>
            <a:r>
              <a:rPr sz="1300" dirty="0"/>
              <a:t> 8+, Majuscules/</a:t>
            </a:r>
            <a:r>
              <a:rPr sz="1300" dirty="0" err="1"/>
              <a:t>Minuscules</a:t>
            </a:r>
            <a:r>
              <a:rPr sz="1300" dirty="0"/>
              <a:t>, </a:t>
            </a:r>
            <a:r>
              <a:rPr sz="1300" dirty="0" err="1"/>
              <a:t>Chiffres</a:t>
            </a:r>
            <a:r>
              <a:rPr sz="1300" dirty="0"/>
              <a:t>, </a:t>
            </a:r>
            <a:r>
              <a:rPr sz="1300" dirty="0" err="1"/>
              <a:t>Symboles</a:t>
            </a:r>
            <a:r>
              <a:rPr sz="1300" dirty="0"/>
              <a:t>). La </a:t>
            </a:r>
            <a:r>
              <a:rPr sz="1300" dirty="0" err="1"/>
              <a:t>jauge</a:t>
            </a:r>
            <a:r>
              <a:rPr sz="1300" dirty="0"/>
              <a:t> </a:t>
            </a:r>
            <a:r>
              <a:rPr sz="1300" dirty="0" err="1"/>
              <a:t>passe</a:t>
            </a:r>
            <a:r>
              <a:rPr sz="1300" dirty="0"/>
              <a:t> du rouge au </a:t>
            </a:r>
            <a:r>
              <a:rPr sz="1300" dirty="0" err="1"/>
              <a:t>vert</a:t>
            </a:r>
            <a:r>
              <a:rPr sz="1300" dirty="0"/>
              <a:t> et le virus </a:t>
            </a:r>
            <a:r>
              <a:rPr sz="1300" dirty="0" err="1"/>
              <a:t>s'enfuit</a:t>
            </a:r>
            <a:r>
              <a:rPr sz="1300" dirty="0"/>
              <a:t> !</a:t>
            </a:r>
            <a:br>
              <a:rPr sz="1300" dirty="0"/>
            </a:br>
            <a:r>
              <a:rPr sz="1300" dirty="0"/>
              <a:t>• </a:t>
            </a:r>
            <a:r>
              <a:rPr sz="1300" dirty="0" err="1"/>
              <a:t>Règle</a:t>
            </a:r>
            <a:r>
              <a:rPr sz="1300" dirty="0"/>
              <a:t> </a:t>
            </a:r>
            <a:r>
              <a:rPr sz="1300" dirty="0" err="1"/>
              <a:t>d'or</a:t>
            </a:r>
            <a:r>
              <a:rPr sz="1300" dirty="0"/>
              <a:t> : Mon mot de </a:t>
            </a:r>
            <a:r>
              <a:rPr sz="1300" dirty="0" err="1"/>
              <a:t>passe</a:t>
            </a:r>
            <a:r>
              <a:rPr sz="1300" dirty="0"/>
              <a:t> </a:t>
            </a:r>
            <a:r>
              <a:rPr sz="1300" dirty="0" err="1"/>
              <a:t>est</a:t>
            </a:r>
            <a:r>
              <a:rPr sz="1300" dirty="0"/>
              <a:t> mon secret. Je ne le </a:t>
            </a:r>
            <a:r>
              <a:rPr sz="1300" dirty="0" err="1"/>
              <a:t>partage</a:t>
            </a:r>
            <a:r>
              <a:rPr sz="1300" dirty="0"/>
              <a:t> </a:t>
            </a:r>
            <a:r>
              <a:rPr sz="1300" dirty="0" err="1"/>
              <a:t>qu'avec</a:t>
            </a:r>
            <a:r>
              <a:rPr sz="1300" dirty="0"/>
              <a:t> </a:t>
            </a:r>
            <a:r>
              <a:rPr sz="1300" dirty="0" err="1"/>
              <a:t>mes</a:t>
            </a:r>
            <a:r>
              <a:rPr sz="1300" dirty="0"/>
              <a:t> parents.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g5_l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37360"/>
            <a:ext cx="1645920" cy="1645920"/>
          </a:xfrm>
          <a:prstGeom prst="rect">
            <a:avLst/>
          </a:prstGeom>
        </p:spPr>
      </p:pic>
      <p:pic>
        <p:nvPicPr>
          <p:cNvPr id="11" name="Picture 10" descr="img9_pie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82880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3474720"/>
            <a:ext cx="46634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rPr dirty="0"/>
              <a:t>Mission 2 : Le </a:t>
            </a:r>
            <a:r>
              <a:rPr dirty="0" err="1"/>
              <a:t>Piège</a:t>
            </a:r>
            <a:r>
              <a:rPr dirty="0"/>
              <a:t> du Loup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Scénario</a:t>
            </a:r>
            <a:r>
              <a:rPr sz="1300" dirty="0"/>
              <a:t> : Un </a:t>
            </a:r>
            <a:r>
              <a:rPr sz="1300" dirty="0" err="1"/>
              <a:t>loup</a:t>
            </a:r>
            <a:r>
              <a:rPr sz="1300" dirty="0"/>
              <a:t> </a:t>
            </a:r>
            <a:r>
              <a:rPr sz="1300" dirty="0" err="1"/>
              <a:t>déguisé</a:t>
            </a:r>
            <a:r>
              <a:rPr sz="1300" dirty="0"/>
              <a:t> </a:t>
            </a:r>
            <a:r>
              <a:rPr sz="1300" dirty="0" err="1"/>
              <a:t>en</a:t>
            </a:r>
            <a:r>
              <a:rPr sz="1300" dirty="0"/>
              <a:t> mouton </a:t>
            </a:r>
            <a:r>
              <a:rPr sz="1300" dirty="0" err="1"/>
              <a:t>offre</a:t>
            </a:r>
            <a:r>
              <a:rPr sz="1300" dirty="0"/>
              <a:t> un </a:t>
            </a:r>
            <a:r>
              <a:rPr sz="1300" dirty="0" err="1"/>
              <a:t>cadeau</a:t>
            </a:r>
            <a:r>
              <a:rPr sz="1300" dirty="0"/>
              <a:t> </a:t>
            </a:r>
            <a:r>
              <a:rPr sz="1300" dirty="0" err="1"/>
              <a:t>gratuit</a:t>
            </a:r>
            <a:r>
              <a:rPr sz="1300" dirty="0"/>
              <a:t> </a:t>
            </a:r>
            <a:r>
              <a:rPr sz="1300" dirty="0" err="1"/>
              <a:t>miraculeux</a:t>
            </a:r>
            <a:r>
              <a:rPr sz="1300" dirty="0"/>
              <a:t>.</a:t>
            </a:r>
            <a:br>
              <a:rPr sz="1300" dirty="0"/>
            </a:br>
            <a:r>
              <a:rPr sz="1300" dirty="0"/>
              <a:t>• </a:t>
            </a:r>
            <a:r>
              <a:rPr sz="1300" dirty="0" err="1"/>
              <a:t>Mécanique</a:t>
            </a:r>
            <a:r>
              <a:rPr sz="1300" dirty="0"/>
              <a:t> de </a:t>
            </a:r>
            <a:r>
              <a:rPr sz="1300" dirty="0" err="1"/>
              <a:t>jeu</a:t>
            </a:r>
            <a:r>
              <a:rPr sz="1300" dirty="0"/>
              <a:t> : Mode </a:t>
            </a:r>
            <a:r>
              <a:rPr sz="1300" dirty="0" err="1"/>
              <a:t>détective</a:t>
            </a:r>
            <a:r>
              <a:rPr sz="1300" dirty="0"/>
              <a:t> à 3 rounds (Faux </a:t>
            </a:r>
            <a:r>
              <a:rPr sz="1300" dirty="0" err="1"/>
              <a:t>Robux</a:t>
            </a:r>
            <a:r>
              <a:rPr sz="1300" dirty="0"/>
              <a:t> </a:t>
            </a:r>
            <a:r>
              <a:rPr sz="1300" dirty="0" err="1"/>
              <a:t>gratuits</a:t>
            </a:r>
            <a:r>
              <a:rPr sz="1300" dirty="0"/>
              <a:t>, faux email de livraison, </a:t>
            </a:r>
            <a:r>
              <a:rPr sz="1300" dirty="0" err="1"/>
              <a:t>alerte</a:t>
            </a:r>
            <a:r>
              <a:rPr sz="1300" dirty="0"/>
              <a:t> </a:t>
            </a:r>
            <a:r>
              <a:rPr sz="1300" dirty="0" err="1"/>
              <a:t>d'urgence</a:t>
            </a:r>
            <a:r>
              <a:rPr sz="1300" dirty="0"/>
              <a:t> </a:t>
            </a:r>
            <a:r>
              <a:rPr sz="1300" dirty="0" err="1"/>
              <a:t>truquée</a:t>
            </a:r>
            <a:r>
              <a:rPr sz="1300" dirty="0"/>
              <a:t>). </a:t>
            </a:r>
            <a:r>
              <a:rPr sz="1300" dirty="0" err="1"/>
              <a:t>L'enfant</a:t>
            </a:r>
            <a:r>
              <a:rPr sz="1300" dirty="0"/>
              <a:t> examine les indices suspects et clique sur 'Refuser &amp; Signaler'.</a:t>
            </a:r>
            <a:br>
              <a:rPr sz="1300" dirty="0"/>
            </a:br>
            <a:r>
              <a:rPr sz="1300" dirty="0"/>
              <a:t>• </a:t>
            </a:r>
            <a:r>
              <a:rPr sz="1300" dirty="0" err="1"/>
              <a:t>Règle</a:t>
            </a:r>
            <a:r>
              <a:rPr sz="1300" dirty="0"/>
              <a:t> </a:t>
            </a:r>
            <a:r>
              <a:rPr sz="1300" dirty="0" err="1"/>
              <a:t>d'or</a:t>
            </a:r>
            <a:r>
              <a:rPr sz="1300" dirty="0"/>
              <a:t> : </a:t>
            </a:r>
            <a:r>
              <a:rPr sz="1300" dirty="0" err="1"/>
              <a:t>Quand</a:t>
            </a:r>
            <a:r>
              <a:rPr sz="1300" dirty="0"/>
              <a:t> </a:t>
            </a:r>
            <a:r>
              <a:rPr sz="1300" dirty="0" err="1"/>
              <a:t>une</a:t>
            </a:r>
            <a:r>
              <a:rPr sz="1300" dirty="0"/>
              <a:t> </a:t>
            </a:r>
            <a:r>
              <a:rPr sz="1300" dirty="0" err="1"/>
              <a:t>offre</a:t>
            </a:r>
            <a:r>
              <a:rPr sz="1300" dirty="0"/>
              <a:t> </a:t>
            </a:r>
            <a:r>
              <a:rPr sz="1300" dirty="0" err="1"/>
              <a:t>est</a:t>
            </a:r>
            <a:r>
              <a:rPr sz="1300" dirty="0"/>
              <a:t> trop belle pour </a:t>
            </a:r>
            <a:r>
              <a:rPr sz="1300" dirty="0" err="1"/>
              <a:t>être</a:t>
            </a:r>
            <a:r>
              <a:rPr sz="1300" dirty="0"/>
              <a:t> </a:t>
            </a:r>
            <a:r>
              <a:rPr sz="1300" dirty="0" err="1"/>
              <a:t>vraie</a:t>
            </a:r>
            <a:r>
              <a:rPr sz="1300" dirty="0"/>
              <a:t>, </a:t>
            </a:r>
            <a:r>
              <a:rPr sz="1300" dirty="0" err="1"/>
              <a:t>c'est</a:t>
            </a:r>
            <a:r>
              <a:rPr sz="1300" dirty="0"/>
              <a:t> un </a:t>
            </a:r>
            <a:r>
              <a:rPr sz="1300" dirty="0" err="1"/>
              <a:t>piège</a:t>
            </a:r>
            <a:r>
              <a:rPr sz="1300" dirty="0"/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FONDEMENTS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Missions 3 &amp; 4 : Pare-feu &amp; Vie Privée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g6_parefeu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2194560" cy="1554480"/>
          </a:xfrm>
          <a:prstGeom prst="rect">
            <a:avLst/>
          </a:prstGeom>
        </p:spPr>
      </p:pic>
      <p:pic>
        <p:nvPicPr>
          <p:cNvPr id="7" name="Picture 6" descr="img6_boucl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737360"/>
            <a:ext cx="210312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3474720"/>
            <a:ext cx="46634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rPr dirty="0"/>
              <a:t>Mission 3 : Le Mur de </a:t>
            </a:r>
            <a:r>
              <a:rPr dirty="0" err="1"/>
              <a:t>Flammes</a:t>
            </a:r>
            <a:r>
              <a:rPr dirty="0"/>
              <a:t> (Pare-feu)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Scénario</a:t>
            </a:r>
            <a:r>
              <a:rPr sz="1300" dirty="0"/>
              <a:t> : Les </a:t>
            </a:r>
            <a:r>
              <a:rPr sz="1300" dirty="0" err="1"/>
              <a:t>portes</a:t>
            </a:r>
            <a:r>
              <a:rPr sz="1300" dirty="0"/>
              <a:t> du château </a:t>
            </a:r>
            <a:r>
              <a:rPr sz="1300" dirty="0" err="1"/>
              <a:t>numérique</a:t>
            </a:r>
            <a:r>
              <a:rPr sz="1300" dirty="0"/>
              <a:t> </a:t>
            </a:r>
            <a:r>
              <a:rPr sz="1300" dirty="0" err="1"/>
              <a:t>voient</a:t>
            </a:r>
            <a:r>
              <a:rPr sz="1300" dirty="0"/>
              <a:t> </a:t>
            </a:r>
            <a:r>
              <a:rPr sz="1300" dirty="0" err="1"/>
              <a:t>affluer</a:t>
            </a:r>
            <a:r>
              <a:rPr sz="1300" dirty="0"/>
              <a:t> des flux de </a:t>
            </a:r>
            <a:r>
              <a:rPr sz="1300" dirty="0" err="1"/>
              <a:t>données</a:t>
            </a:r>
            <a:r>
              <a:rPr sz="1300" dirty="0"/>
              <a:t>.</a:t>
            </a:r>
            <a:br>
              <a:rPr sz="1300" dirty="0"/>
            </a:br>
            <a:r>
              <a:rPr sz="1300" dirty="0"/>
              <a:t>• </a:t>
            </a:r>
            <a:r>
              <a:rPr sz="1300" dirty="0" err="1"/>
              <a:t>Mécanique</a:t>
            </a:r>
            <a:r>
              <a:rPr sz="1300" dirty="0"/>
              <a:t> de </a:t>
            </a:r>
            <a:r>
              <a:rPr sz="1300" dirty="0" err="1"/>
              <a:t>jeu</a:t>
            </a:r>
            <a:r>
              <a:rPr sz="1300" dirty="0"/>
              <a:t> : </a:t>
            </a:r>
            <a:r>
              <a:rPr sz="1300" dirty="0" err="1"/>
              <a:t>L'enfant</a:t>
            </a:r>
            <a:r>
              <a:rPr sz="1300" dirty="0"/>
              <a:t> </a:t>
            </a:r>
            <a:r>
              <a:rPr sz="1300" dirty="0" err="1"/>
              <a:t>agit</a:t>
            </a:r>
            <a:r>
              <a:rPr sz="1300" dirty="0"/>
              <a:t> </a:t>
            </a:r>
            <a:r>
              <a:rPr sz="1300" dirty="0" err="1"/>
              <a:t>comme</a:t>
            </a:r>
            <a:r>
              <a:rPr sz="1300" dirty="0"/>
              <a:t> </a:t>
            </a:r>
            <a:r>
              <a:rPr sz="1300" dirty="0" err="1"/>
              <a:t>capitaine</a:t>
            </a:r>
            <a:r>
              <a:rPr sz="1300" dirty="0"/>
              <a:t> de la </a:t>
            </a:r>
            <a:r>
              <a:rPr sz="1300" dirty="0" err="1"/>
              <a:t>garde</a:t>
            </a:r>
            <a:r>
              <a:rPr sz="1300" dirty="0"/>
              <a:t> : </a:t>
            </a:r>
            <a:r>
              <a:rPr sz="1300" dirty="0" err="1"/>
              <a:t>il</a:t>
            </a:r>
            <a:r>
              <a:rPr sz="1300" dirty="0"/>
              <a:t> clique sur '</a:t>
            </a:r>
            <a:r>
              <a:rPr sz="1300" dirty="0" err="1"/>
              <a:t>Autoriser</a:t>
            </a:r>
            <a:r>
              <a:rPr sz="1300" dirty="0"/>
              <a:t>' pour les </a:t>
            </a:r>
            <a:r>
              <a:rPr sz="1300" dirty="0" err="1"/>
              <a:t>amis</a:t>
            </a:r>
            <a:r>
              <a:rPr sz="1300" dirty="0"/>
              <a:t> (email de grand-</a:t>
            </a:r>
            <a:r>
              <a:rPr sz="1300" dirty="0" err="1"/>
              <a:t>mère</a:t>
            </a:r>
            <a:r>
              <a:rPr sz="1300" dirty="0"/>
              <a:t>, </a:t>
            </a:r>
            <a:r>
              <a:rPr sz="1300" dirty="0" err="1"/>
              <a:t>cours</a:t>
            </a:r>
            <a:r>
              <a:rPr sz="1300" dirty="0"/>
              <a:t> de </a:t>
            </a:r>
            <a:r>
              <a:rPr sz="1300" dirty="0" err="1"/>
              <a:t>l'école</a:t>
            </a:r>
            <a:r>
              <a:rPr sz="1300" dirty="0"/>
              <a:t>) et </a:t>
            </a:r>
            <a:r>
              <a:rPr sz="1300" dirty="0" err="1"/>
              <a:t>dresse</a:t>
            </a:r>
            <a:r>
              <a:rPr sz="1300" dirty="0"/>
              <a:t> le '</a:t>
            </a:r>
            <a:r>
              <a:rPr sz="1300" dirty="0" err="1"/>
              <a:t>Bouclier</a:t>
            </a:r>
            <a:r>
              <a:rPr sz="1300" dirty="0"/>
              <a:t> de </a:t>
            </a:r>
            <a:r>
              <a:rPr sz="1300" dirty="0" err="1"/>
              <a:t>Flammes</a:t>
            </a:r>
            <a:r>
              <a:rPr sz="1300" dirty="0"/>
              <a:t>' pour </a:t>
            </a:r>
            <a:r>
              <a:rPr sz="1300" dirty="0" err="1"/>
              <a:t>bloquer</a:t>
            </a:r>
            <a:r>
              <a:rPr sz="1300" dirty="0"/>
              <a:t> les virus et spywares.</a:t>
            </a:r>
            <a:br>
              <a:rPr sz="1300" dirty="0"/>
            </a:br>
            <a:r>
              <a:rPr sz="1300" dirty="0"/>
              <a:t>• </a:t>
            </a:r>
            <a:r>
              <a:rPr sz="1300" dirty="0" err="1"/>
              <a:t>Règle</a:t>
            </a:r>
            <a:r>
              <a:rPr sz="1300" dirty="0"/>
              <a:t> </a:t>
            </a:r>
            <a:r>
              <a:rPr sz="1300" dirty="0" err="1"/>
              <a:t>d'or</a:t>
            </a:r>
            <a:r>
              <a:rPr sz="1300" dirty="0"/>
              <a:t> : Le pare-feu et </a:t>
            </a:r>
            <a:r>
              <a:rPr sz="1300" dirty="0" err="1"/>
              <a:t>l'antivirus</a:t>
            </a:r>
            <a:r>
              <a:rPr sz="1300" dirty="0"/>
              <a:t> </a:t>
            </a:r>
            <a:r>
              <a:rPr sz="1300" dirty="0" err="1"/>
              <a:t>sont</a:t>
            </a:r>
            <a:r>
              <a:rPr sz="1300" dirty="0"/>
              <a:t> </a:t>
            </a:r>
            <a:r>
              <a:rPr sz="1300" dirty="0" err="1"/>
              <a:t>mes</a:t>
            </a:r>
            <a:r>
              <a:rPr sz="1300" dirty="0"/>
              <a:t> </a:t>
            </a:r>
            <a:r>
              <a:rPr sz="1300" dirty="0" err="1"/>
              <a:t>gardes</a:t>
            </a:r>
            <a:r>
              <a:rPr sz="1300" dirty="0"/>
              <a:t> du corps invisibles.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g7_tres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37360"/>
            <a:ext cx="237744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474720"/>
            <a:ext cx="466344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 dirty="0"/>
              <a:t>Mission 4 : Le </a:t>
            </a:r>
            <a:r>
              <a:rPr dirty="0" err="1"/>
              <a:t>Coffre</a:t>
            </a:r>
            <a:r>
              <a:rPr dirty="0"/>
              <a:t> aux </a:t>
            </a:r>
            <a:r>
              <a:rPr dirty="0" err="1"/>
              <a:t>Trésors</a:t>
            </a:r>
            <a:endParaRPr dirty="0"/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Scénario</a:t>
            </a:r>
            <a:r>
              <a:rPr sz="1300" dirty="0"/>
              <a:t> : Nos </a:t>
            </a:r>
            <a:r>
              <a:rPr sz="1300" dirty="0" err="1"/>
              <a:t>données</a:t>
            </a:r>
            <a:r>
              <a:rPr sz="1300" dirty="0"/>
              <a:t> </a:t>
            </a:r>
            <a:r>
              <a:rPr sz="1300" dirty="0" err="1"/>
              <a:t>personnelles</a:t>
            </a:r>
            <a:r>
              <a:rPr sz="1300" dirty="0"/>
              <a:t> </a:t>
            </a:r>
            <a:r>
              <a:rPr sz="1300" dirty="0" err="1"/>
              <a:t>sont</a:t>
            </a:r>
            <a:r>
              <a:rPr sz="1300" dirty="0"/>
              <a:t> de </a:t>
            </a:r>
            <a:r>
              <a:rPr sz="1300" dirty="0" err="1"/>
              <a:t>précieux</a:t>
            </a:r>
            <a:r>
              <a:rPr sz="1300" dirty="0"/>
              <a:t> </a:t>
            </a:r>
            <a:r>
              <a:rPr sz="1300" dirty="0" err="1"/>
              <a:t>trésors</a:t>
            </a:r>
            <a:r>
              <a:rPr sz="1300" dirty="0"/>
              <a:t> </a:t>
            </a:r>
            <a:r>
              <a:rPr sz="1300" dirty="0" err="1"/>
              <a:t>convoités</a:t>
            </a:r>
            <a:r>
              <a:rPr sz="1300" dirty="0"/>
              <a:t>.</a:t>
            </a:r>
            <a:br>
              <a:rPr sz="1300" dirty="0"/>
            </a:br>
            <a:r>
              <a:rPr sz="1300" dirty="0"/>
              <a:t>• </a:t>
            </a:r>
            <a:r>
              <a:rPr sz="1300" dirty="0" err="1"/>
              <a:t>Mécanique</a:t>
            </a:r>
            <a:r>
              <a:rPr sz="1300" dirty="0"/>
              <a:t> de </a:t>
            </a:r>
            <a:r>
              <a:rPr sz="1300" dirty="0" err="1"/>
              <a:t>jeu</a:t>
            </a:r>
            <a:r>
              <a:rPr sz="1300" dirty="0"/>
              <a:t> : Grand tri </a:t>
            </a:r>
            <a:r>
              <a:rPr sz="1300" dirty="0" err="1"/>
              <a:t>interactif</a:t>
            </a:r>
            <a:r>
              <a:rPr sz="1300" dirty="0"/>
              <a:t> entre le '</a:t>
            </a:r>
            <a:r>
              <a:rPr sz="1300" dirty="0" err="1"/>
              <a:t>Coffre</a:t>
            </a:r>
            <a:r>
              <a:rPr sz="1300" dirty="0"/>
              <a:t> Secret 🔒' (</a:t>
            </a:r>
            <a:r>
              <a:rPr sz="1300" dirty="0" err="1"/>
              <a:t>adresse</a:t>
            </a:r>
            <a:r>
              <a:rPr sz="1300" dirty="0"/>
              <a:t> de </a:t>
            </a:r>
            <a:r>
              <a:rPr sz="1300" dirty="0" err="1"/>
              <a:t>maison</a:t>
            </a:r>
            <a:r>
              <a:rPr sz="1300" dirty="0"/>
              <a:t>, </a:t>
            </a:r>
            <a:r>
              <a:rPr sz="1300" dirty="0" err="1"/>
              <a:t>école</a:t>
            </a:r>
            <a:r>
              <a:rPr sz="1300" dirty="0"/>
              <a:t>, mot de </a:t>
            </a:r>
            <a:r>
              <a:rPr sz="1300" dirty="0" err="1"/>
              <a:t>passe</a:t>
            </a:r>
            <a:r>
              <a:rPr sz="1300" dirty="0"/>
              <a:t>) et le '</a:t>
            </a:r>
            <a:r>
              <a:rPr sz="1300" dirty="0" err="1"/>
              <a:t>Jardin</a:t>
            </a:r>
            <a:r>
              <a:rPr sz="1300" dirty="0"/>
              <a:t> Public 🌐' (pseudo de </a:t>
            </a:r>
            <a:r>
              <a:rPr sz="1300" dirty="0" err="1"/>
              <a:t>jeu</a:t>
            </a:r>
            <a:r>
              <a:rPr sz="1300" dirty="0"/>
              <a:t>, </a:t>
            </a:r>
            <a:r>
              <a:rPr sz="1300" dirty="0" err="1"/>
              <a:t>couleur</a:t>
            </a:r>
            <a:r>
              <a:rPr sz="1300" dirty="0"/>
              <a:t> </a:t>
            </a:r>
            <a:r>
              <a:rPr sz="1300" dirty="0" err="1"/>
              <a:t>préférée</a:t>
            </a:r>
            <a:r>
              <a:rPr sz="1300" dirty="0"/>
              <a:t>).</a:t>
            </a:r>
            <a:br>
              <a:rPr sz="1300" dirty="0"/>
            </a:br>
            <a:r>
              <a:rPr sz="1300" dirty="0"/>
              <a:t>• </a:t>
            </a:r>
            <a:r>
              <a:rPr sz="1300" dirty="0" err="1"/>
              <a:t>Règle</a:t>
            </a:r>
            <a:r>
              <a:rPr sz="1300" dirty="0"/>
              <a:t> </a:t>
            </a:r>
            <a:r>
              <a:rPr sz="1300" dirty="0" err="1"/>
              <a:t>d'or</a:t>
            </a:r>
            <a:r>
              <a:rPr sz="1300" dirty="0"/>
              <a:t> : Ne </a:t>
            </a:r>
            <a:r>
              <a:rPr sz="1300" dirty="0" err="1"/>
              <a:t>jamais</a:t>
            </a:r>
            <a:r>
              <a:rPr sz="1300" dirty="0"/>
              <a:t> donner mon </a:t>
            </a:r>
            <a:r>
              <a:rPr sz="1300" dirty="0" err="1"/>
              <a:t>adresse</a:t>
            </a:r>
            <a:r>
              <a:rPr sz="1300" dirty="0"/>
              <a:t> </a:t>
            </a:r>
            <a:r>
              <a:rPr sz="1300" dirty="0" err="1"/>
              <a:t>ou</a:t>
            </a:r>
            <a:r>
              <a:rPr sz="1300" dirty="0"/>
              <a:t> le nom de mon </a:t>
            </a:r>
            <a:r>
              <a:rPr sz="1300" dirty="0" err="1"/>
              <a:t>école</a:t>
            </a:r>
            <a:r>
              <a:rPr sz="1300" dirty="0"/>
              <a:t> à des </a:t>
            </a:r>
            <a:r>
              <a:rPr sz="1300" dirty="0" err="1"/>
              <a:t>inconnus</a:t>
            </a:r>
            <a:r>
              <a:rPr sz="13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FONDEMENTS 5, 6 &amp;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Missions 5, 6 &amp; 7 : Mises à Jour, Sauvegardes &amp; Chiffrement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g8_m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96" y="1737360"/>
            <a:ext cx="2353377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749039"/>
            <a:ext cx="301752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rPr dirty="0"/>
              <a:t>MISSION 5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rPr dirty="0"/>
              <a:t>Le Robot </a:t>
            </a:r>
            <a:r>
              <a:rPr dirty="0" err="1"/>
              <a:t>Forgeron</a:t>
            </a:r>
            <a:endParaRPr dirty="0"/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rPr sz="1300" dirty="0" err="1"/>
              <a:t>L'armure</a:t>
            </a:r>
            <a:r>
              <a:rPr sz="1300" dirty="0"/>
              <a:t> du cyber-</a:t>
            </a:r>
            <a:r>
              <a:rPr sz="1300" dirty="0" err="1"/>
              <a:t>gardien</a:t>
            </a:r>
            <a:r>
              <a:rPr sz="1300" dirty="0"/>
              <a:t> </a:t>
            </a:r>
            <a:r>
              <a:rPr sz="1300" dirty="0" err="1"/>
              <a:t>subit</a:t>
            </a:r>
            <a:r>
              <a:rPr sz="1300" dirty="0"/>
              <a:t> des micro-fissures (</a:t>
            </a:r>
            <a:r>
              <a:rPr sz="1300" dirty="0" err="1"/>
              <a:t>failles</a:t>
            </a:r>
            <a:r>
              <a:rPr sz="1300" dirty="0"/>
              <a:t> de </a:t>
            </a:r>
            <a:r>
              <a:rPr sz="1300" dirty="0" err="1"/>
              <a:t>sécurité</a:t>
            </a:r>
            <a:r>
              <a:rPr sz="1300" dirty="0"/>
              <a:t>). </a:t>
            </a:r>
            <a:r>
              <a:rPr sz="1300" dirty="0" err="1"/>
              <a:t>L'enfant</a:t>
            </a:r>
            <a:r>
              <a:rPr sz="1300" dirty="0"/>
              <a:t> aide le robot à </a:t>
            </a:r>
            <a:r>
              <a:rPr sz="1300" dirty="0" err="1"/>
              <a:t>souder</a:t>
            </a:r>
            <a:r>
              <a:rPr sz="1300" dirty="0"/>
              <a:t> les </a:t>
            </a:r>
            <a:r>
              <a:rPr sz="1300" dirty="0" err="1"/>
              <a:t>brèches</a:t>
            </a:r>
            <a:r>
              <a:rPr sz="1300" dirty="0"/>
              <a:t> avec son </a:t>
            </a:r>
            <a:r>
              <a:rPr sz="1300" dirty="0" err="1"/>
              <a:t>marteau</a:t>
            </a:r>
            <a:r>
              <a:rPr sz="1300" dirty="0"/>
              <a:t> </a:t>
            </a:r>
            <a:r>
              <a:rPr sz="1300" dirty="0" err="1"/>
              <a:t>magique</a:t>
            </a:r>
            <a:r>
              <a:rPr sz="1300" dirty="0"/>
              <a:t> </a:t>
            </a:r>
            <a:r>
              <a:rPr sz="1300" dirty="0" err="1"/>
              <a:t>avant</a:t>
            </a:r>
            <a:r>
              <a:rPr sz="1300" dirty="0"/>
              <a:t> </a:t>
            </a:r>
            <a:r>
              <a:rPr sz="1300" dirty="0" err="1"/>
              <a:t>qu'un</a:t>
            </a:r>
            <a:r>
              <a:rPr sz="1300" dirty="0"/>
              <a:t> hacker ne </a:t>
            </a:r>
            <a:r>
              <a:rPr sz="1300" dirty="0" err="1"/>
              <a:t>s'y</a:t>
            </a:r>
            <a:r>
              <a:rPr sz="1300" dirty="0"/>
              <a:t> </a:t>
            </a:r>
            <a:r>
              <a:rPr sz="1300" dirty="0" err="1"/>
              <a:t>faufile</a:t>
            </a:r>
            <a:r>
              <a:rPr sz="130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g7_sauvegar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1" y="1737360"/>
            <a:ext cx="2353376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749039"/>
            <a:ext cx="301752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rPr dirty="0"/>
              <a:t>MISSION 6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rPr dirty="0"/>
              <a:t>La </a:t>
            </a:r>
            <a:r>
              <a:rPr dirty="0" err="1"/>
              <a:t>Sauvegarde</a:t>
            </a:r>
            <a:r>
              <a:rPr dirty="0"/>
              <a:t> </a:t>
            </a:r>
            <a:r>
              <a:rPr dirty="0" err="1"/>
              <a:t>Céleste</a:t>
            </a:r>
            <a:endParaRPr dirty="0"/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rPr sz="1300" dirty="0"/>
              <a:t>Pour </a:t>
            </a:r>
            <a:r>
              <a:rPr sz="1300" dirty="0" err="1"/>
              <a:t>éviter</a:t>
            </a:r>
            <a:r>
              <a:rPr sz="1300" dirty="0"/>
              <a:t> de </a:t>
            </a:r>
            <a:r>
              <a:rPr sz="1300" dirty="0" err="1"/>
              <a:t>perdre</a:t>
            </a:r>
            <a:r>
              <a:rPr sz="1300" dirty="0"/>
              <a:t> </a:t>
            </a:r>
            <a:r>
              <a:rPr sz="1300" dirty="0" err="1"/>
              <a:t>ses</a:t>
            </a:r>
            <a:r>
              <a:rPr sz="1300" dirty="0"/>
              <a:t> souvenirs </a:t>
            </a:r>
            <a:r>
              <a:rPr sz="1300" dirty="0" err="1"/>
              <a:t>en</a:t>
            </a:r>
            <a:r>
              <a:rPr sz="1300" dirty="0"/>
              <a:t> </a:t>
            </a:r>
            <a:r>
              <a:rPr sz="1300" dirty="0" err="1"/>
              <a:t>cas</a:t>
            </a:r>
            <a:r>
              <a:rPr sz="1300" dirty="0"/>
              <a:t> de </a:t>
            </a:r>
            <a:r>
              <a:rPr sz="1300" dirty="0" err="1"/>
              <a:t>panne</a:t>
            </a:r>
            <a:r>
              <a:rPr sz="1300" dirty="0"/>
              <a:t> </a:t>
            </a:r>
            <a:r>
              <a:rPr sz="1300" dirty="0" err="1"/>
              <a:t>ou</a:t>
            </a:r>
            <a:r>
              <a:rPr sz="1300" dirty="0"/>
              <a:t> </a:t>
            </a:r>
            <a:r>
              <a:rPr sz="1300" dirty="0" err="1"/>
              <a:t>d'attaque</a:t>
            </a:r>
            <a:r>
              <a:rPr sz="1300" dirty="0"/>
              <a:t> de </a:t>
            </a:r>
            <a:r>
              <a:rPr sz="1300" dirty="0" err="1"/>
              <a:t>rançongiciel</a:t>
            </a:r>
            <a:r>
              <a:rPr sz="1300" dirty="0"/>
              <a:t>, </a:t>
            </a:r>
            <a:r>
              <a:rPr sz="1300" dirty="0" err="1"/>
              <a:t>l'enfant</a:t>
            </a:r>
            <a:r>
              <a:rPr sz="1300" dirty="0"/>
              <a:t> active le rayon d'un </a:t>
            </a:r>
            <a:r>
              <a:rPr sz="1300" dirty="0" err="1"/>
              <a:t>coffre</a:t>
            </a:r>
            <a:r>
              <a:rPr sz="1300" dirty="0"/>
              <a:t> </a:t>
            </a:r>
            <a:r>
              <a:rPr sz="1300" dirty="0" err="1"/>
              <a:t>volant</a:t>
            </a:r>
            <a:r>
              <a:rPr sz="1300" dirty="0"/>
              <a:t> pour aspirer et </a:t>
            </a:r>
            <a:r>
              <a:rPr sz="1300" dirty="0" err="1"/>
              <a:t>mettre</a:t>
            </a:r>
            <a:r>
              <a:rPr sz="1300" dirty="0"/>
              <a:t> à </a:t>
            </a:r>
            <a:r>
              <a:rPr sz="1300" dirty="0" err="1"/>
              <a:t>l'abri</a:t>
            </a:r>
            <a:r>
              <a:rPr sz="1300" dirty="0"/>
              <a:t> </a:t>
            </a:r>
            <a:r>
              <a:rPr sz="1300" dirty="0" err="1"/>
              <a:t>ses</a:t>
            </a:r>
            <a:r>
              <a:rPr sz="1300" dirty="0"/>
              <a:t> </a:t>
            </a:r>
            <a:r>
              <a:rPr sz="1300" dirty="0" err="1"/>
              <a:t>fichiers</a:t>
            </a:r>
            <a:r>
              <a:rPr sz="1300" dirty="0"/>
              <a:t> </a:t>
            </a:r>
            <a:r>
              <a:rPr sz="1300" dirty="0" err="1"/>
              <a:t>précieux</a:t>
            </a:r>
            <a:r>
              <a:rPr sz="13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g8_tu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981" y="1737360"/>
            <a:ext cx="2444817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3749039"/>
            <a:ext cx="301752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dirty="0"/>
              <a:t>MISSION 7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rPr dirty="0"/>
              <a:t>Le Tunnel Mystique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rPr sz="1300" dirty="0"/>
              <a:t>Sur un Wi-Fi public sans mot de </a:t>
            </a:r>
            <a:r>
              <a:rPr sz="1300" dirty="0" err="1"/>
              <a:t>passe</a:t>
            </a:r>
            <a:r>
              <a:rPr sz="1300" dirty="0"/>
              <a:t>, des </a:t>
            </a:r>
            <a:r>
              <a:rPr sz="1300" dirty="0" err="1"/>
              <a:t>espions</a:t>
            </a:r>
            <a:r>
              <a:rPr sz="1300" dirty="0"/>
              <a:t> </a:t>
            </a:r>
            <a:r>
              <a:rPr sz="1300" dirty="0" err="1"/>
              <a:t>surveillent</a:t>
            </a:r>
            <a:r>
              <a:rPr sz="1300" dirty="0"/>
              <a:t>. </a:t>
            </a:r>
            <a:r>
              <a:rPr sz="1300" dirty="0" err="1"/>
              <a:t>L'enfant</a:t>
            </a:r>
            <a:r>
              <a:rPr sz="1300" dirty="0"/>
              <a:t> </a:t>
            </a:r>
            <a:r>
              <a:rPr sz="1300" dirty="0" err="1"/>
              <a:t>allume</a:t>
            </a:r>
            <a:r>
              <a:rPr sz="1300" dirty="0"/>
              <a:t> les 3 </a:t>
            </a:r>
            <a:r>
              <a:rPr sz="1300" dirty="0" err="1"/>
              <a:t>anneaux</a:t>
            </a:r>
            <a:r>
              <a:rPr sz="1300" dirty="0"/>
              <a:t> </a:t>
            </a:r>
            <a:r>
              <a:rPr sz="1300" dirty="0" err="1"/>
              <a:t>d'énergie</a:t>
            </a:r>
            <a:r>
              <a:rPr sz="1300" dirty="0"/>
              <a:t> du tunnel pour </a:t>
            </a:r>
            <a:r>
              <a:rPr sz="1300" dirty="0" err="1"/>
              <a:t>chiffrer</a:t>
            </a:r>
            <a:r>
              <a:rPr sz="1300" dirty="0"/>
              <a:t> </a:t>
            </a:r>
            <a:r>
              <a:rPr sz="1300" dirty="0" err="1"/>
              <a:t>ses</a:t>
            </a:r>
            <a:r>
              <a:rPr sz="1300" dirty="0"/>
              <a:t> </a:t>
            </a:r>
            <a:r>
              <a:rPr sz="1300" dirty="0" err="1"/>
              <a:t>données</a:t>
            </a:r>
            <a:r>
              <a:rPr sz="1300" dirty="0"/>
              <a:t> </a:t>
            </a:r>
            <a:r>
              <a:rPr sz="1300" dirty="0" err="1"/>
              <a:t>en</a:t>
            </a:r>
            <a:r>
              <a:rPr sz="1300" dirty="0"/>
              <a:t> code secret </a:t>
            </a:r>
            <a:r>
              <a:rPr sz="1300" dirty="0" err="1"/>
              <a:t>indéchiffrable</a:t>
            </a:r>
            <a:r>
              <a:rPr sz="13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VALORISATION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La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Consécration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: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Diplôme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du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Jeune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Cyber-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Gardien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66928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rPr dirty="0"/>
              <a:t>Un </a:t>
            </a:r>
            <a:r>
              <a:rPr dirty="0" err="1"/>
              <a:t>Certificat</a:t>
            </a:r>
            <a:r>
              <a:rPr dirty="0"/>
              <a:t> </a:t>
            </a:r>
            <a:r>
              <a:rPr dirty="0" err="1"/>
              <a:t>d'Excellence</a:t>
            </a:r>
            <a:r>
              <a:rPr dirty="0"/>
              <a:t> </a:t>
            </a:r>
            <a:r>
              <a:rPr dirty="0" err="1"/>
              <a:t>Personnalisé</a:t>
            </a:r>
            <a:r>
              <a:rPr dirty="0"/>
              <a:t> et </a:t>
            </a:r>
            <a:r>
              <a:rPr dirty="0" err="1"/>
              <a:t>Imprimable</a:t>
            </a:r>
            <a:r>
              <a:rPr dirty="0"/>
              <a:t> :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Personnalisation</a:t>
            </a:r>
            <a:r>
              <a:rPr sz="1300" dirty="0"/>
              <a:t> </a:t>
            </a:r>
            <a:r>
              <a:rPr sz="1300" dirty="0" err="1"/>
              <a:t>en</a:t>
            </a:r>
            <a:r>
              <a:rPr sz="1300" dirty="0"/>
              <a:t> direct : </a:t>
            </a:r>
            <a:r>
              <a:rPr sz="1300" b="0" dirty="0" err="1">
                <a:solidFill>
                  <a:srgbClr val="94A3B8"/>
                </a:solidFill>
              </a:rPr>
              <a:t>L'enfant</a:t>
            </a:r>
            <a:r>
              <a:rPr sz="1300" b="0" dirty="0">
                <a:solidFill>
                  <a:srgbClr val="94A3B8"/>
                </a:solidFill>
              </a:rPr>
              <a:t> entre son </a:t>
            </a:r>
            <a:r>
              <a:rPr sz="1300" b="0" dirty="0" err="1">
                <a:solidFill>
                  <a:srgbClr val="94A3B8"/>
                </a:solidFill>
              </a:rPr>
              <a:t>prénom</a:t>
            </a:r>
            <a:r>
              <a:rPr sz="1300" b="0" dirty="0">
                <a:solidFill>
                  <a:srgbClr val="94A3B8"/>
                </a:solidFill>
              </a:rPr>
              <a:t> et son </a:t>
            </a:r>
            <a:r>
              <a:rPr sz="1300" b="0" dirty="0" err="1">
                <a:solidFill>
                  <a:srgbClr val="94A3B8"/>
                </a:solidFill>
              </a:rPr>
              <a:t>diplôme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officiel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est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généré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instantanément</a:t>
            </a:r>
            <a:r>
              <a:rPr sz="1300"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Validation des 7 </a:t>
            </a:r>
            <a:r>
              <a:rPr sz="1300" dirty="0" err="1"/>
              <a:t>compétences</a:t>
            </a:r>
            <a:r>
              <a:rPr sz="1300" dirty="0"/>
              <a:t> : </a:t>
            </a:r>
            <a:r>
              <a:rPr sz="1300" b="0" dirty="0" err="1">
                <a:solidFill>
                  <a:srgbClr val="94A3B8"/>
                </a:solidFill>
              </a:rPr>
              <a:t>Chaque</a:t>
            </a:r>
            <a:r>
              <a:rPr sz="1300" b="0" dirty="0">
                <a:solidFill>
                  <a:srgbClr val="94A3B8"/>
                </a:solidFill>
              </a:rPr>
              <a:t> mission </a:t>
            </a:r>
            <a:r>
              <a:rPr sz="1300" b="0" dirty="0" err="1">
                <a:solidFill>
                  <a:srgbClr val="94A3B8"/>
                </a:solidFill>
              </a:rPr>
              <a:t>réussie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est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attestée</a:t>
            </a:r>
            <a:r>
              <a:rPr sz="1300" b="0" dirty="0">
                <a:solidFill>
                  <a:srgbClr val="94A3B8"/>
                </a:solidFill>
              </a:rPr>
              <a:t> par un badge (Mots de </a:t>
            </a:r>
            <a:r>
              <a:rPr sz="1300" b="0" dirty="0" err="1">
                <a:solidFill>
                  <a:srgbClr val="94A3B8"/>
                </a:solidFill>
              </a:rPr>
              <a:t>passe</a:t>
            </a:r>
            <a:r>
              <a:rPr sz="1300" b="0" dirty="0">
                <a:solidFill>
                  <a:srgbClr val="94A3B8"/>
                </a:solidFill>
              </a:rPr>
              <a:t>, Phishing, Pare-feu, Vie </a:t>
            </a:r>
            <a:r>
              <a:rPr sz="1300" b="0" dirty="0" err="1">
                <a:solidFill>
                  <a:srgbClr val="94A3B8"/>
                </a:solidFill>
              </a:rPr>
              <a:t>privée</a:t>
            </a:r>
            <a:r>
              <a:rPr sz="1300" b="0" dirty="0">
                <a:solidFill>
                  <a:srgbClr val="94A3B8"/>
                </a:solidFill>
              </a:rPr>
              <a:t>, Mises à jour, </a:t>
            </a:r>
            <a:r>
              <a:rPr sz="1300" b="0" dirty="0" err="1">
                <a:solidFill>
                  <a:srgbClr val="94A3B8"/>
                </a:solidFill>
              </a:rPr>
              <a:t>Sauvegardes</a:t>
            </a:r>
            <a:r>
              <a:rPr sz="1300" b="0" dirty="0">
                <a:solidFill>
                  <a:srgbClr val="94A3B8"/>
                </a:solidFill>
              </a:rPr>
              <a:t>, HTTPS).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Sceau</a:t>
            </a:r>
            <a:r>
              <a:rPr sz="1300" dirty="0"/>
              <a:t> </a:t>
            </a:r>
            <a:r>
              <a:rPr sz="1300" dirty="0" err="1"/>
              <a:t>d'ingénieur</a:t>
            </a:r>
            <a:r>
              <a:rPr sz="1300" dirty="0"/>
              <a:t> RED PHOENIX 2026 : </a:t>
            </a:r>
            <a:r>
              <a:rPr sz="1300" b="0" dirty="0">
                <a:solidFill>
                  <a:srgbClr val="94A3B8"/>
                </a:solidFill>
              </a:rPr>
              <a:t>Le </a:t>
            </a:r>
            <a:r>
              <a:rPr sz="1300" b="0" dirty="0" err="1">
                <a:solidFill>
                  <a:srgbClr val="94A3B8"/>
                </a:solidFill>
              </a:rPr>
              <a:t>diplôme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porte</a:t>
            </a:r>
            <a:r>
              <a:rPr sz="1300" b="0" dirty="0">
                <a:solidFill>
                  <a:srgbClr val="94A3B8"/>
                </a:solidFill>
              </a:rPr>
              <a:t> le </a:t>
            </a:r>
            <a:r>
              <a:rPr sz="1300" b="0" dirty="0" err="1">
                <a:solidFill>
                  <a:srgbClr val="94A3B8"/>
                </a:solidFill>
              </a:rPr>
              <a:t>sceau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officiel</a:t>
            </a:r>
            <a:r>
              <a:rPr sz="1300" b="0" dirty="0">
                <a:solidFill>
                  <a:srgbClr val="94A3B8"/>
                </a:solidFill>
              </a:rPr>
              <a:t> du club de </a:t>
            </a:r>
            <a:r>
              <a:rPr sz="1300" b="0" dirty="0" err="1">
                <a:solidFill>
                  <a:srgbClr val="94A3B8"/>
                </a:solidFill>
              </a:rPr>
              <a:t>cybersécurité</a:t>
            </a:r>
            <a:r>
              <a:rPr sz="1300" b="0" dirty="0">
                <a:solidFill>
                  <a:srgbClr val="94A3B8"/>
                </a:solidFill>
              </a:rPr>
              <a:t> de </a:t>
            </a:r>
            <a:r>
              <a:rPr sz="1300" b="0" dirty="0" err="1">
                <a:solidFill>
                  <a:srgbClr val="94A3B8"/>
                </a:solidFill>
              </a:rPr>
              <a:t>l'ENSA</a:t>
            </a:r>
            <a:r>
              <a:rPr sz="1300" b="0" dirty="0">
                <a:solidFill>
                  <a:srgbClr val="94A3B8"/>
                </a:solidFill>
              </a:rPr>
              <a:t> Oujda.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Bouton</a:t>
            </a:r>
            <a:r>
              <a:rPr sz="1300" dirty="0"/>
              <a:t> </a:t>
            </a:r>
            <a:r>
              <a:rPr sz="1300" dirty="0" err="1"/>
              <a:t>d'impression</a:t>
            </a:r>
            <a:r>
              <a:rPr sz="1300" dirty="0"/>
              <a:t> &amp; </a:t>
            </a:r>
            <a:r>
              <a:rPr sz="1300" dirty="0" err="1"/>
              <a:t>Téléchargement</a:t>
            </a:r>
            <a:r>
              <a:rPr sz="1300" dirty="0"/>
              <a:t> : </a:t>
            </a:r>
            <a:r>
              <a:rPr sz="1300" b="0" dirty="0">
                <a:solidFill>
                  <a:srgbClr val="94A3B8"/>
                </a:solidFill>
              </a:rPr>
              <a:t>Grâce à </a:t>
            </a:r>
            <a:r>
              <a:rPr sz="1300" b="0" dirty="0" err="1">
                <a:solidFill>
                  <a:srgbClr val="94A3B8"/>
                </a:solidFill>
              </a:rPr>
              <a:t>une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mise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en</a:t>
            </a:r>
            <a:r>
              <a:rPr sz="1300" b="0" dirty="0">
                <a:solidFill>
                  <a:srgbClr val="94A3B8"/>
                </a:solidFill>
              </a:rPr>
              <a:t> page CSS print </a:t>
            </a:r>
            <a:r>
              <a:rPr sz="1300" b="0" dirty="0" err="1">
                <a:solidFill>
                  <a:srgbClr val="94A3B8"/>
                </a:solidFill>
              </a:rPr>
              <a:t>optimisée</a:t>
            </a:r>
            <a:r>
              <a:rPr sz="1300" b="0" dirty="0">
                <a:solidFill>
                  <a:srgbClr val="94A3B8"/>
                </a:solidFill>
              </a:rPr>
              <a:t>, </a:t>
            </a:r>
            <a:r>
              <a:rPr sz="1300" b="0" dirty="0" err="1">
                <a:solidFill>
                  <a:srgbClr val="94A3B8"/>
                </a:solidFill>
              </a:rPr>
              <a:t>l'enfant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ou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l'enseignant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peut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imprimer</a:t>
            </a:r>
            <a:r>
              <a:rPr sz="1300" b="0" dirty="0">
                <a:solidFill>
                  <a:srgbClr val="94A3B8"/>
                </a:solidFill>
              </a:rPr>
              <a:t> le </a:t>
            </a:r>
            <a:r>
              <a:rPr sz="1300" b="0" dirty="0" err="1">
                <a:solidFill>
                  <a:srgbClr val="94A3B8"/>
                </a:solidFill>
              </a:rPr>
              <a:t>diplôme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en</a:t>
            </a:r>
            <a:r>
              <a:rPr sz="1300" b="0" dirty="0">
                <a:solidFill>
                  <a:srgbClr val="94A3B8"/>
                </a:solidFill>
              </a:rPr>
              <a:t> haute </a:t>
            </a:r>
            <a:r>
              <a:rPr sz="1300" b="0" dirty="0" err="1">
                <a:solidFill>
                  <a:srgbClr val="94A3B8"/>
                </a:solidFill>
              </a:rPr>
              <a:t>qualité</a:t>
            </a:r>
            <a:r>
              <a:rPr sz="1300" b="0" dirty="0">
                <a:solidFill>
                  <a:srgbClr val="94A3B8"/>
                </a:solidFill>
              </a:rPr>
              <a:t> sur </a:t>
            </a:r>
            <a:r>
              <a:rPr sz="1300" b="0" dirty="0" err="1">
                <a:solidFill>
                  <a:srgbClr val="94A3B8"/>
                </a:solidFill>
              </a:rPr>
              <a:t>papier</a:t>
            </a:r>
            <a:r>
              <a:rPr sz="1300" b="0" dirty="0">
                <a:solidFill>
                  <a:srgbClr val="94A3B8"/>
                </a:solidFill>
              </a:rPr>
              <a:t> pour </a:t>
            </a:r>
            <a:r>
              <a:rPr sz="1300" b="0" dirty="0" err="1">
                <a:solidFill>
                  <a:srgbClr val="94A3B8"/>
                </a:solidFill>
              </a:rPr>
              <a:t>l'afficher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fièrement</a:t>
            </a:r>
            <a:r>
              <a:rPr sz="1300"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Célébration</a:t>
            </a:r>
            <a:r>
              <a:rPr sz="1300" dirty="0"/>
              <a:t> </a:t>
            </a:r>
            <a:r>
              <a:rPr sz="1300" dirty="0" err="1"/>
              <a:t>sonore</a:t>
            </a:r>
            <a:r>
              <a:rPr sz="1300" dirty="0"/>
              <a:t> &amp; </a:t>
            </a:r>
            <a:r>
              <a:rPr sz="1300" dirty="0" err="1"/>
              <a:t>Confettis</a:t>
            </a:r>
            <a:r>
              <a:rPr sz="1300" dirty="0"/>
              <a:t> : </a:t>
            </a:r>
            <a:r>
              <a:rPr sz="1300" b="0" dirty="0" err="1">
                <a:solidFill>
                  <a:srgbClr val="94A3B8"/>
                </a:solidFill>
              </a:rPr>
              <a:t>Pluie</a:t>
            </a:r>
            <a:r>
              <a:rPr sz="1300" b="0" dirty="0">
                <a:solidFill>
                  <a:srgbClr val="94A3B8"/>
                </a:solidFill>
              </a:rPr>
              <a:t> de </a:t>
            </a:r>
            <a:r>
              <a:rPr sz="1300" b="0" dirty="0" err="1">
                <a:solidFill>
                  <a:srgbClr val="94A3B8"/>
                </a:solidFill>
              </a:rPr>
              <a:t>confettis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dorés</a:t>
            </a:r>
            <a:r>
              <a:rPr sz="1300" b="0" dirty="0">
                <a:solidFill>
                  <a:srgbClr val="94A3B8"/>
                </a:solidFill>
              </a:rPr>
              <a:t> et fanfare Web Audio API pour </a:t>
            </a:r>
            <a:r>
              <a:rPr sz="1300" b="0" dirty="0" err="1">
                <a:solidFill>
                  <a:srgbClr val="94A3B8"/>
                </a:solidFill>
              </a:rPr>
              <a:t>marquer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ce</a:t>
            </a:r>
            <a:r>
              <a:rPr sz="1300" b="0" dirty="0">
                <a:solidFill>
                  <a:srgbClr val="94A3B8"/>
                </a:solidFill>
              </a:rPr>
              <a:t> moment de </a:t>
            </a:r>
            <a:r>
              <a:rPr sz="1300" b="0" dirty="0" err="1">
                <a:solidFill>
                  <a:srgbClr val="94A3B8"/>
                </a:solidFill>
              </a:rPr>
              <a:t>réussite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valorisant</a:t>
            </a:r>
            <a:r>
              <a:rPr sz="1300" b="0" dirty="0">
                <a:solidFill>
                  <a:srgbClr val="94A3B8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411480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g10_troph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463" y="1828800"/>
            <a:ext cx="3195588" cy="2926080"/>
          </a:xfrm>
          <a:prstGeom prst="rect">
            <a:avLst/>
          </a:prstGeom>
        </p:spPr>
      </p:pic>
      <p:pic>
        <p:nvPicPr>
          <p:cNvPr id="9" name="Picture 8" descr="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31" y="4754880"/>
            <a:ext cx="1848051" cy="1188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STACK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Technologies &amp; Architecture du Jeu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LANGAGE MODERNE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TypeScript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Typage statique strict garantissant un code robuste sans erreurs d'exécution inattendues.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t>MOTEUR WEB D'ÉLITE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Next.js 16 &amp; React 19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Architecture App Router, pré-rendu ultra-rapide et gestion des routes dynamique.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AE6FD"/>
                </a:solidFill>
              </a:defRPr>
            </a:pPr>
            <a:r>
              <a:t>DESIGN CYBER &amp; RESPONSIVE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Tailwind CSS v4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Système d'affichage fluide sur smartphones (iOS/Android), tablettes et écrans PC.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PHYSIQUE &amp; ANIMATIONS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Framer Motion v14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Micro-interactions réalistes, effets de flottement, secousses et retours visuels immédiats.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SYNTHÉSE SONORE EN DIRECT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Web Audio API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Synthétiseur audio rétro/arcade autonome sans aucun fichier audio lourd externe.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t>INTERNATIONALISATION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Bilinguisme Arabe / Français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Gestion dynamique RTL/LTR avec Google Fonts adaptées (Cairo pour l'arabe, Inter pour le français).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VISION RED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Impact &amp; Perspectives d'Avenir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1700"/>
            <a:ext cx="630936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rPr dirty="0"/>
              <a:t>La Suite de </a:t>
            </a:r>
            <a:r>
              <a:rPr dirty="0" err="1"/>
              <a:t>l'Aventure</a:t>
            </a:r>
            <a:r>
              <a:rPr dirty="0"/>
              <a:t> pour le Club :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Déploiement</a:t>
            </a:r>
            <a:r>
              <a:rPr sz="1300" dirty="0"/>
              <a:t> </a:t>
            </a:r>
            <a:r>
              <a:rPr sz="1300" dirty="0" err="1"/>
              <a:t>en</a:t>
            </a:r>
            <a:r>
              <a:rPr sz="1300" dirty="0"/>
              <a:t> Milieu </a:t>
            </a:r>
            <a:r>
              <a:rPr sz="1300" dirty="0" err="1"/>
              <a:t>Scolaire</a:t>
            </a:r>
            <a:r>
              <a:rPr sz="1300" dirty="0"/>
              <a:t> : </a:t>
            </a:r>
            <a:r>
              <a:rPr sz="1300" b="0" dirty="0" err="1">
                <a:solidFill>
                  <a:srgbClr val="94A3B8"/>
                </a:solidFill>
              </a:rPr>
              <a:t>Organiser</a:t>
            </a:r>
            <a:r>
              <a:rPr sz="1300" b="0" dirty="0">
                <a:solidFill>
                  <a:srgbClr val="94A3B8"/>
                </a:solidFill>
              </a:rPr>
              <a:t> des ateliers de </a:t>
            </a:r>
            <a:r>
              <a:rPr sz="1300" b="0" dirty="0" err="1">
                <a:solidFill>
                  <a:srgbClr val="94A3B8"/>
                </a:solidFill>
              </a:rPr>
              <a:t>sensibilisation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dans</a:t>
            </a:r>
            <a:r>
              <a:rPr sz="1300" b="0" dirty="0">
                <a:solidFill>
                  <a:srgbClr val="94A3B8"/>
                </a:solidFill>
              </a:rPr>
              <a:t> les </a:t>
            </a:r>
            <a:r>
              <a:rPr sz="1300" b="0" dirty="0" err="1">
                <a:solidFill>
                  <a:srgbClr val="94A3B8"/>
                </a:solidFill>
              </a:rPr>
              <a:t>écoles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primaires</a:t>
            </a:r>
            <a:r>
              <a:rPr sz="1300" b="0" dirty="0">
                <a:solidFill>
                  <a:srgbClr val="94A3B8"/>
                </a:solidFill>
              </a:rPr>
              <a:t> et </a:t>
            </a:r>
            <a:r>
              <a:rPr sz="1300" b="0" dirty="0" err="1">
                <a:solidFill>
                  <a:srgbClr val="94A3B8"/>
                </a:solidFill>
              </a:rPr>
              <a:t>collèges</a:t>
            </a:r>
            <a:r>
              <a:rPr sz="1300" b="0" dirty="0">
                <a:solidFill>
                  <a:srgbClr val="94A3B8"/>
                </a:solidFill>
              </a:rPr>
              <a:t> de la </a:t>
            </a:r>
            <a:r>
              <a:rPr sz="1300" b="0" dirty="0" err="1">
                <a:solidFill>
                  <a:srgbClr val="94A3B8"/>
                </a:solidFill>
              </a:rPr>
              <a:t>région</a:t>
            </a:r>
            <a:r>
              <a:rPr sz="1300" b="0" dirty="0">
                <a:solidFill>
                  <a:srgbClr val="94A3B8"/>
                </a:solidFill>
              </a:rPr>
              <a:t> de </a:t>
            </a:r>
            <a:r>
              <a:rPr sz="1300" b="0" dirty="0" err="1">
                <a:solidFill>
                  <a:srgbClr val="94A3B8"/>
                </a:solidFill>
              </a:rPr>
              <a:t>l'Oriental</a:t>
            </a:r>
            <a:r>
              <a:rPr sz="1300" b="0" dirty="0">
                <a:solidFill>
                  <a:srgbClr val="94A3B8"/>
                </a:solidFill>
              </a:rPr>
              <a:t> avec le </a:t>
            </a:r>
            <a:r>
              <a:rPr sz="1300" b="0" dirty="0" err="1">
                <a:solidFill>
                  <a:srgbClr val="94A3B8"/>
                </a:solidFill>
              </a:rPr>
              <a:t>jeu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comme</a:t>
            </a:r>
            <a:r>
              <a:rPr sz="1300" b="0" dirty="0">
                <a:solidFill>
                  <a:srgbClr val="94A3B8"/>
                </a:solidFill>
              </a:rPr>
              <a:t> support </a:t>
            </a:r>
            <a:r>
              <a:rPr sz="1300" b="0" dirty="0" err="1">
                <a:solidFill>
                  <a:srgbClr val="94A3B8"/>
                </a:solidFill>
              </a:rPr>
              <a:t>interactif</a:t>
            </a:r>
            <a:r>
              <a:rPr sz="1300"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Mode </a:t>
            </a:r>
            <a:r>
              <a:rPr sz="1300" dirty="0" err="1"/>
              <a:t>Multijoueur</a:t>
            </a:r>
            <a:r>
              <a:rPr sz="1300" dirty="0"/>
              <a:t> &amp; CTF Junior : </a:t>
            </a:r>
            <a:r>
              <a:rPr sz="1300" b="0" dirty="0">
                <a:solidFill>
                  <a:srgbClr val="94A3B8"/>
                </a:solidFill>
              </a:rPr>
              <a:t>Faire </a:t>
            </a:r>
            <a:r>
              <a:rPr sz="1300" b="0" dirty="0" err="1">
                <a:solidFill>
                  <a:srgbClr val="94A3B8"/>
                </a:solidFill>
              </a:rPr>
              <a:t>évoluer</a:t>
            </a:r>
            <a:r>
              <a:rPr sz="1300" b="0" dirty="0">
                <a:solidFill>
                  <a:srgbClr val="94A3B8"/>
                </a:solidFill>
              </a:rPr>
              <a:t> le </a:t>
            </a:r>
            <a:r>
              <a:rPr sz="1300" b="0" dirty="0" err="1">
                <a:solidFill>
                  <a:srgbClr val="94A3B8"/>
                </a:solidFill>
              </a:rPr>
              <a:t>projet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vers</a:t>
            </a:r>
            <a:r>
              <a:rPr sz="1300" b="0" dirty="0">
                <a:solidFill>
                  <a:srgbClr val="94A3B8"/>
                </a:solidFill>
              </a:rPr>
              <a:t> un </a:t>
            </a:r>
            <a:r>
              <a:rPr sz="1300" b="0" dirty="0" err="1">
                <a:solidFill>
                  <a:srgbClr val="94A3B8"/>
                </a:solidFill>
              </a:rPr>
              <a:t>défi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compétitif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où</a:t>
            </a:r>
            <a:r>
              <a:rPr sz="1300" b="0" dirty="0">
                <a:solidFill>
                  <a:srgbClr val="94A3B8"/>
                </a:solidFill>
              </a:rPr>
              <a:t> des </a:t>
            </a:r>
            <a:r>
              <a:rPr sz="1300" b="0" dirty="0" err="1">
                <a:solidFill>
                  <a:srgbClr val="94A3B8"/>
                </a:solidFill>
              </a:rPr>
              <a:t>équipes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d'enfants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collaborent</a:t>
            </a:r>
            <a:r>
              <a:rPr sz="1300" b="0" dirty="0">
                <a:solidFill>
                  <a:srgbClr val="94A3B8"/>
                </a:solidFill>
              </a:rPr>
              <a:t> pour </a:t>
            </a:r>
            <a:r>
              <a:rPr sz="1300" b="0" dirty="0" err="1">
                <a:solidFill>
                  <a:srgbClr val="94A3B8"/>
                </a:solidFill>
              </a:rPr>
              <a:t>défendre</a:t>
            </a:r>
            <a:r>
              <a:rPr sz="1300" b="0" dirty="0">
                <a:solidFill>
                  <a:srgbClr val="94A3B8"/>
                </a:solidFill>
              </a:rPr>
              <a:t> le château </a:t>
            </a:r>
            <a:r>
              <a:rPr sz="1300" b="0" dirty="0" err="1">
                <a:solidFill>
                  <a:srgbClr val="94A3B8"/>
                </a:solidFill>
              </a:rPr>
              <a:t>contre</a:t>
            </a:r>
            <a:r>
              <a:rPr sz="1300" b="0" dirty="0">
                <a:solidFill>
                  <a:srgbClr val="94A3B8"/>
                </a:solidFill>
              </a:rPr>
              <a:t> des </a:t>
            </a:r>
            <a:r>
              <a:rPr sz="1300" b="0" dirty="0" err="1">
                <a:solidFill>
                  <a:srgbClr val="94A3B8"/>
                </a:solidFill>
              </a:rPr>
              <a:t>vagues</a:t>
            </a:r>
            <a:r>
              <a:rPr sz="1300" b="0" dirty="0">
                <a:solidFill>
                  <a:srgbClr val="94A3B8"/>
                </a:solidFill>
              </a:rPr>
              <a:t> de cyber-</a:t>
            </a:r>
            <a:r>
              <a:rPr sz="1300" b="0" dirty="0" err="1">
                <a:solidFill>
                  <a:srgbClr val="94A3B8"/>
                </a:solidFill>
              </a:rPr>
              <a:t>attaques</a:t>
            </a:r>
            <a:r>
              <a:rPr sz="1300"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Fierté</a:t>
            </a:r>
            <a:r>
              <a:rPr sz="1300" dirty="0"/>
              <a:t> </a:t>
            </a:r>
            <a:r>
              <a:rPr sz="1300" dirty="0" err="1"/>
              <a:t>Universitaire</a:t>
            </a:r>
            <a:r>
              <a:rPr sz="1300" dirty="0"/>
              <a:t> &amp; </a:t>
            </a:r>
            <a:r>
              <a:rPr sz="1300" dirty="0" err="1"/>
              <a:t>Rayonnement</a:t>
            </a:r>
            <a:r>
              <a:rPr sz="1300" dirty="0"/>
              <a:t> : </a:t>
            </a:r>
            <a:r>
              <a:rPr sz="1300" b="0" dirty="0" err="1">
                <a:solidFill>
                  <a:srgbClr val="94A3B8"/>
                </a:solidFill>
              </a:rPr>
              <a:t>Prouver</a:t>
            </a:r>
            <a:r>
              <a:rPr sz="1300" b="0" dirty="0">
                <a:solidFill>
                  <a:srgbClr val="94A3B8"/>
                </a:solidFill>
              </a:rPr>
              <a:t> que les </a:t>
            </a:r>
            <a:r>
              <a:rPr sz="1300" b="0" dirty="0" err="1">
                <a:solidFill>
                  <a:srgbClr val="94A3B8"/>
                </a:solidFill>
              </a:rPr>
              <a:t>élèves-ingénieurs</a:t>
            </a:r>
            <a:r>
              <a:rPr sz="1300" b="0" dirty="0">
                <a:solidFill>
                  <a:srgbClr val="94A3B8"/>
                </a:solidFill>
              </a:rPr>
              <a:t> de </a:t>
            </a:r>
            <a:r>
              <a:rPr sz="1300" b="0" dirty="0" err="1">
                <a:solidFill>
                  <a:srgbClr val="94A3B8"/>
                </a:solidFill>
              </a:rPr>
              <a:t>l'ENSA</a:t>
            </a:r>
            <a:r>
              <a:rPr sz="1300" b="0" dirty="0">
                <a:solidFill>
                  <a:srgbClr val="94A3B8"/>
                </a:solidFill>
              </a:rPr>
              <a:t> Oujda </a:t>
            </a:r>
            <a:r>
              <a:rPr sz="1300" b="0" dirty="0" err="1">
                <a:solidFill>
                  <a:srgbClr val="94A3B8"/>
                </a:solidFill>
              </a:rPr>
              <a:t>conçoivent</a:t>
            </a:r>
            <a:r>
              <a:rPr sz="1300" b="0" dirty="0">
                <a:solidFill>
                  <a:srgbClr val="94A3B8"/>
                </a:solidFill>
              </a:rPr>
              <a:t> des solutions </a:t>
            </a:r>
            <a:r>
              <a:rPr sz="1300" b="0" dirty="0" err="1">
                <a:solidFill>
                  <a:srgbClr val="94A3B8"/>
                </a:solidFill>
              </a:rPr>
              <a:t>concrètes</a:t>
            </a:r>
            <a:r>
              <a:rPr sz="1300" b="0" dirty="0">
                <a:solidFill>
                  <a:srgbClr val="94A3B8"/>
                </a:solidFill>
              </a:rPr>
              <a:t> au service de la </a:t>
            </a:r>
            <a:r>
              <a:rPr sz="1300" b="0" dirty="0" err="1">
                <a:solidFill>
                  <a:srgbClr val="94A3B8"/>
                </a:solidFill>
              </a:rPr>
              <a:t>société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marocaine</a:t>
            </a:r>
            <a:r>
              <a:rPr sz="1300"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rPr sz="1300" dirty="0"/>
              <a:t>• Un Internet plus </a:t>
            </a:r>
            <a:r>
              <a:rPr sz="1300" dirty="0" err="1"/>
              <a:t>sûr</a:t>
            </a:r>
            <a:r>
              <a:rPr sz="1300" dirty="0"/>
              <a:t> pour </a:t>
            </a:r>
            <a:r>
              <a:rPr sz="1300" dirty="0" err="1"/>
              <a:t>nos</a:t>
            </a:r>
            <a:r>
              <a:rPr sz="1300" dirty="0"/>
              <a:t> </a:t>
            </a:r>
            <a:r>
              <a:rPr sz="1300" dirty="0" err="1"/>
              <a:t>enfants</a:t>
            </a:r>
            <a:r>
              <a:rPr sz="1300" dirty="0"/>
              <a:t> : </a:t>
            </a:r>
            <a:r>
              <a:rPr sz="1300" b="0" dirty="0" err="1">
                <a:solidFill>
                  <a:srgbClr val="94A3B8"/>
                </a:solidFill>
              </a:rPr>
              <a:t>Remplacer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l'insouciance</a:t>
            </a:r>
            <a:r>
              <a:rPr sz="1300" b="0" dirty="0">
                <a:solidFill>
                  <a:srgbClr val="94A3B8"/>
                </a:solidFill>
              </a:rPr>
              <a:t> par la vigilance, et la </a:t>
            </a:r>
            <a:r>
              <a:rPr sz="1300" b="0" dirty="0" err="1">
                <a:solidFill>
                  <a:srgbClr val="94A3B8"/>
                </a:solidFill>
              </a:rPr>
              <a:t>vulnérabilité</a:t>
            </a:r>
            <a:r>
              <a:rPr sz="1300" b="0" dirty="0">
                <a:solidFill>
                  <a:srgbClr val="94A3B8"/>
                </a:solidFill>
              </a:rPr>
              <a:t> par la </a:t>
            </a:r>
            <a:r>
              <a:rPr sz="1300" b="0" dirty="0" err="1">
                <a:solidFill>
                  <a:srgbClr val="94A3B8"/>
                </a:solidFill>
              </a:rPr>
              <a:t>compétence</a:t>
            </a:r>
            <a:r>
              <a:rPr sz="1300" b="0" dirty="0">
                <a:solidFill>
                  <a:srgbClr val="94A3B8"/>
                </a:solidFill>
              </a:rPr>
              <a:t> </a:t>
            </a:r>
            <a:r>
              <a:rPr sz="1300" b="0" dirty="0" err="1">
                <a:solidFill>
                  <a:srgbClr val="94A3B8"/>
                </a:solidFill>
              </a:rPr>
              <a:t>numérique</a:t>
            </a:r>
            <a:r>
              <a:rPr sz="1300" b="0" dirty="0">
                <a:solidFill>
                  <a:srgbClr val="94A3B8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63040"/>
            <a:ext cx="3474720" cy="47548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951" y="1828800"/>
            <a:ext cx="2353376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3383280"/>
            <a:ext cx="2926080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RED PHOENIX CLUB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ENSA Oujda — </a:t>
            </a:r>
            <a:r>
              <a:rPr dirty="0" err="1"/>
              <a:t>Maroc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💬 WhatsApp : +212 762-902954</a:t>
            </a:r>
            <a:br>
              <a:rPr dirty="0"/>
            </a:br>
            <a:r>
              <a:rPr dirty="0"/>
              <a:t>📸 Instagram : @r3d.phoenix</a:t>
            </a:r>
            <a:br>
              <a:rPr dirty="0"/>
            </a:br>
            <a:r>
              <a:rPr dirty="0"/>
              <a:t>🎵 </a:t>
            </a:r>
            <a:r>
              <a:rPr dirty="0" err="1"/>
              <a:t>TikTok</a:t>
            </a:r>
            <a:r>
              <a:rPr dirty="0"/>
              <a:t> : @</a:t>
            </a:r>
            <a:r>
              <a:rPr dirty="0" err="1"/>
              <a:t>redphoenixclub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Engineered </a:t>
            </a:r>
            <a:r>
              <a:rPr lang="fr-FR" dirty="0" smtClean="0"/>
              <a:t>by</a:t>
            </a:r>
            <a:r>
              <a:rPr dirty="0" smtClean="0"/>
              <a:t> </a:t>
            </a:r>
            <a:r>
              <a:rPr lang="fr-FR" dirty="0" smtClean="0"/>
              <a:t> </a:t>
            </a:r>
            <a:r>
              <a:rPr lang="fr-FR" dirty="0"/>
              <a:t>RED PHOENIX </a:t>
            </a:r>
            <a:r>
              <a:rPr lang="fr-FR" dirty="0" smtClean="0"/>
              <a:t>CLUB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1358</Words>
  <Application>Microsoft Office PowerPoint</Application>
  <PresentationFormat>Grand écran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PC</cp:lastModifiedBy>
  <cp:revision>7</cp:revision>
  <dcterms:created xsi:type="dcterms:W3CDTF">2013-01-27T09:14:16Z</dcterms:created>
  <dcterms:modified xsi:type="dcterms:W3CDTF">2026-10-14T17:45:33Z</dcterms:modified>
  <cp:category/>
</cp:coreProperties>
</file>